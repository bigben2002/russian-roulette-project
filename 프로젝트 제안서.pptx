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6" r:id="rId8"/>
    <p:sldId id="267" r:id="rId9"/>
    <p:sldId id="268" r:id="rId10"/>
    <p:sldId id="269" r:id="rId11"/>
    <p:sldId id="262" r:id="rId12"/>
    <p:sldId id="264" r:id="rId13"/>
    <p:sldId id="26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8CD07-6E28-4F80-74E4-FDA205E95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D952B9-2D6B-5F1A-0B36-DF3CCC445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943E8-1981-83DD-70D7-69C88065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73460-9F83-45DD-9962-67CBC67E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50CED7-B831-676A-4CEF-EBA43EEB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5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31083-5C4F-2197-8DDA-D7DA9E94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DF718C-F0E2-A249-C464-65CE2658A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82D33-8B98-91E9-BFCA-427E4391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6675D-E9A3-FD56-63A0-4B7026A3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88B7C9-FA74-B620-F3A8-1352719D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19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6C1C0-51D9-37AE-E917-A732ABBD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5268D9-26E1-B0B9-CC0F-2053BF6AE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F722FA-7790-B833-3405-25976F61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4A2E13-3ACC-B552-31A2-24426282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B2F0D4-5A62-E2EB-77CE-EEA4DF71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93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F7233-1465-5BE2-EDCA-4AC6F2F8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F06E09-B402-1843-182A-C313F99B4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484EBF-9246-346C-A492-796668048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D4B398-9277-899F-CCDC-4CEB726F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C8E8F9-C90C-9DFE-0963-8E167B84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DAF1B6-C0F4-7A7C-8ABE-6BEFAF32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11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BFC51-D564-213E-F7AA-C56F90E4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FABAA1-A293-9C41-35F7-2E6527861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4C47FB-2B7D-CDAA-8EF0-64CE597D2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014652-2CD4-287E-E3BB-87F6D1D77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5E74D4-2D47-FB93-0EDD-870233E09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FF2E28-3CF7-4F0C-4CB9-14D33F19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C84AF2-A69A-D271-B681-587C8ABE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F455FA-1580-3074-A7C9-4E825A4A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72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17F5C-C810-DC70-B090-D23D32A9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3ADC69-6A3D-6642-6230-5B011038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5D6343-A3F5-C55B-C63C-3F17412C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71C935-D6C1-A51A-CC95-25F66EBCF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1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09F4A3-F048-C404-77DF-CE936B99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ADDA136-2A7E-9BC2-E557-ADBA0631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B46BA-BB92-01D9-BD0F-74AD7C89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60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686D7-F265-EED2-7CED-68FCDFD5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87713-F7AC-2B5B-6A51-9C46731E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7ECAB-B763-430B-9D7B-39297F9E2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B9C7C2-FB54-F1D3-136E-B1A3FF8C1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8258D4-6ECC-B3C4-B573-5D773E947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01E42E-504C-537C-5474-B157324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42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BF0E6-74C6-B902-23B9-0AA7B2A2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D7C876-C72C-963C-7ADF-C3CB4472F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B5F3E7-9BF0-CF95-1A7F-DF814E86D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9FF438-5D42-FEA9-EF1C-36B2720A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83998E-C746-A1B9-F007-AF4904E7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8A5C68-9150-0B9A-355F-36895682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858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0A359-52CD-1E99-7F3D-8D1CF7589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2C9DE1-8C0D-1B85-0AD8-CA612944C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CC5C9-13E1-5A15-B30B-41512FF0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4EADCF-1727-1F92-62E6-9E618AAB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E60E3-9611-E378-B88B-8F945D21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49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FB5F6F-C0A7-8240-89F2-9664409B5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A05A95-F156-50EA-BAB9-E5B0E1A44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4E5457-6039-2B20-F8AB-DF77B7A9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4C5B49-5BF8-F45E-516B-17F9397F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36755B-1071-0776-6AF8-E5EFCF14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88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54B952-B128-7D51-B40D-3BC6C3D53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4EA79-8037-3A10-D595-6CC58836D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27C99-6A43-82E7-5482-E430EBFD1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0A99B-F643-4F07-99DC-6C64909B92F3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9F8DA3-0651-3C8B-BD54-F99D92271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57BE9-763A-BB42-6AE7-295E924C4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1F374-0EB0-4C91-956A-169B9E93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586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BD0DB-778A-9C12-223F-CBFA39FC6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857374"/>
            <a:ext cx="9144000" cy="1185863"/>
          </a:xfrm>
        </p:spPr>
        <p:txBody>
          <a:bodyPr/>
          <a:lstStyle/>
          <a:p>
            <a:r>
              <a:rPr lang="ko-KR" altLang="en-US" dirty="0"/>
              <a:t>프로젝트 제안서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9B843C-6CEE-62C2-95D6-FB7DAC686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10296525" cy="1655762"/>
          </a:xfrm>
        </p:spPr>
        <p:txBody>
          <a:bodyPr/>
          <a:lstStyle/>
          <a:p>
            <a:pPr algn="r"/>
            <a:endParaRPr lang="en-US" altLang="ko-KR" dirty="0"/>
          </a:p>
          <a:p>
            <a:pPr algn="r"/>
            <a:r>
              <a:rPr lang="en-US" altLang="ko-KR" dirty="0"/>
              <a:t>2171073 </a:t>
            </a:r>
            <a:r>
              <a:rPr lang="ko-KR" altLang="ko-KR" dirty="0" err="1"/>
              <a:t>이경석</a:t>
            </a:r>
            <a:endParaRPr lang="en-US" altLang="ko-KR" dirty="0"/>
          </a:p>
          <a:p>
            <a:pPr algn="r"/>
            <a:r>
              <a:rPr lang="en-US" altLang="ko-KR" dirty="0"/>
              <a:t>2171062 </a:t>
            </a:r>
            <a:r>
              <a:rPr lang="ko-KR" altLang="ko-KR" dirty="0"/>
              <a:t>김준현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827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F8E7D4C-4A4A-53F8-59B8-F04A8D08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1. </a:t>
            </a:r>
            <a:r>
              <a:rPr lang="ko-KR" altLang="en-US" sz="4000" dirty="0"/>
              <a:t>프로젝트 개요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C00ED8D-FCCC-6A42-8B82-4FB596F08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 </a:t>
            </a:r>
            <a:r>
              <a:rPr lang="ko-KR" altLang="en-US" sz="2000" b="1" dirty="0"/>
              <a:t>프로젝트명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dirty="0"/>
              <a:t>– Russian Roulette (</a:t>
            </a:r>
            <a:r>
              <a:rPr lang="ko-KR" altLang="en-US" sz="2000" dirty="0"/>
              <a:t>러시안 </a:t>
            </a:r>
            <a:r>
              <a:rPr lang="ko-KR" altLang="en-US" sz="2000" dirty="0" err="1"/>
              <a:t>룰렛</a:t>
            </a:r>
            <a:r>
              <a:rPr lang="en-US" altLang="ko-KR" sz="2000" dirty="0"/>
              <a:t>)</a:t>
            </a:r>
            <a:br>
              <a:rPr lang="ko-KR" altLang="en-US" sz="2000" dirty="0"/>
            </a:br>
            <a:r>
              <a:rPr lang="en-US" altLang="ko-KR" sz="2000" dirty="0"/>
              <a:t>– </a:t>
            </a:r>
            <a:r>
              <a:rPr lang="ko-KR" altLang="en-US" sz="2000" dirty="0"/>
              <a:t>자바</a:t>
            </a:r>
            <a:r>
              <a:rPr lang="en-US" altLang="ko-KR" sz="2000" dirty="0"/>
              <a:t>(Java) </a:t>
            </a:r>
            <a:r>
              <a:rPr lang="ko-KR" altLang="en-US" sz="2000" dirty="0"/>
              <a:t>기반의 </a:t>
            </a:r>
            <a:r>
              <a:rPr lang="en-US" altLang="ko-KR" sz="2000" dirty="0"/>
              <a:t>2</a:t>
            </a:r>
            <a:r>
              <a:rPr lang="ko-KR" altLang="en-US" sz="2000" dirty="0"/>
              <a:t>인용 네트워크 대전 게임</a:t>
            </a:r>
            <a:endParaRPr lang="en-US" altLang="ko-KR" sz="2000" dirty="0"/>
          </a:p>
          <a:p>
            <a:r>
              <a:rPr lang="ko-KR" altLang="en-US" sz="2000" b="1" dirty="0"/>
              <a:t>개요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이 프로젝트는 </a:t>
            </a:r>
            <a:r>
              <a:rPr lang="en-US" altLang="ko-KR" sz="2000" dirty="0"/>
              <a:t>TCP </a:t>
            </a:r>
            <a:r>
              <a:rPr lang="ko-KR" altLang="en-US" sz="2000" dirty="0"/>
              <a:t>소켓 통신을 이용하여 두 명의 사용자가 실시간으로 대전할 수 있는 </a:t>
            </a:r>
            <a:r>
              <a:rPr lang="ko-KR" altLang="en-US" sz="2000" dirty="0" err="1"/>
              <a:t>턴제</a:t>
            </a:r>
            <a:r>
              <a:rPr lang="ko-KR" altLang="en-US" sz="2000" dirty="0"/>
              <a:t> 심리 게임을 구현한 것이다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2. </a:t>
            </a:r>
            <a:r>
              <a:rPr lang="ko-KR" altLang="en-US" sz="2000" dirty="0"/>
              <a:t>각 플레이어는 진짜 총알과 가짜 총알이 무작위로 섞인 리볼버를 공유하며</a:t>
            </a:r>
            <a:r>
              <a:rPr lang="en-US" altLang="ko-KR" sz="2000" dirty="0"/>
              <a:t>, </a:t>
            </a:r>
            <a:r>
              <a:rPr lang="ko-KR" altLang="en-US" sz="2000" dirty="0"/>
              <a:t>턴마다 상대를 향해 쏘거나 자신한테 쏠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3. HP</a:t>
            </a:r>
            <a:r>
              <a:rPr lang="ko-KR" altLang="en-US" sz="2000" dirty="0"/>
              <a:t>가 </a:t>
            </a:r>
            <a:r>
              <a:rPr lang="en-US" altLang="ko-KR" sz="2000" dirty="0"/>
              <a:t>0</a:t>
            </a:r>
            <a:r>
              <a:rPr lang="ko-KR" altLang="en-US" sz="2000" dirty="0"/>
              <a:t>이 되는 순간 패배하며</a:t>
            </a:r>
            <a:r>
              <a:rPr lang="en-US" altLang="ko-KR" sz="2000" dirty="0"/>
              <a:t>, </a:t>
            </a:r>
            <a:r>
              <a:rPr lang="ko-KR" altLang="en-US" sz="2000" dirty="0"/>
              <a:t>실시간으로 게임 상태</a:t>
            </a:r>
            <a:r>
              <a:rPr lang="en-US" altLang="ko-KR" sz="2000" dirty="0"/>
              <a:t>(HP, </a:t>
            </a:r>
            <a:r>
              <a:rPr lang="ko-KR" altLang="en-US" sz="2000" dirty="0"/>
              <a:t>남은 진짜</a:t>
            </a:r>
            <a:r>
              <a:rPr lang="en-US" altLang="ko-KR" sz="2000" dirty="0"/>
              <a:t>/</a:t>
            </a:r>
            <a:r>
              <a:rPr lang="ko-KR" altLang="en-US" sz="2000" dirty="0"/>
              <a:t>가짜 총알 수</a:t>
            </a:r>
            <a:r>
              <a:rPr lang="en-US" altLang="ko-KR" sz="2000" dirty="0"/>
              <a:t>, </a:t>
            </a:r>
            <a:r>
              <a:rPr lang="ko-KR" altLang="en-US" sz="2000" dirty="0"/>
              <a:t>턴 정보 등</a:t>
            </a:r>
            <a:r>
              <a:rPr lang="en-US" altLang="ko-KR" sz="2000" dirty="0"/>
              <a:t>)</a:t>
            </a:r>
            <a:r>
              <a:rPr lang="ko-KR" altLang="en-US" sz="2000" dirty="0"/>
              <a:t>가 갱신된다</a:t>
            </a:r>
            <a:r>
              <a:rPr lang="en-US" altLang="ko-KR" sz="2000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32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B245-7C1C-452E-4B84-216F3D42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D79362-2E9F-B8D9-ED1A-E6E1A7D3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2. </a:t>
            </a:r>
            <a:r>
              <a:rPr lang="ko-KR" altLang="en-US" sz="4000" dirty="0"/>
              <a:t>기능 설명</a:t>
            </a:r>
          </a:p>
        </p:txBody>
      </p:sp>
      <p:graphicFrame>
        <p:nvGraphicFramePr>
          <p:cNvPr id="3" name="내용 개체 틀 2">
            <a:extLst>
              <a:ext uri="{FF2B5EF4-FFF2-40B4-BE49-F238E27FC236}">
                <a16:creationId xmlns:a16="http://schemas.microsoft.com/office/drawing/2014/main" id="{3023FFD4-7C67-0B9D-5538-1DE3A1E52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636462"/>
              </p:ext>
            </p:extLst>
          </p:nvPr>
        </p:nvGraphicFramePr>
        <p:xfrm>
          <a:off x="838200" y="1690688"/>
          <a:ext cx="10515600" cy="4846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762006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58162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112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1. </a:t>
                      </a:r>
                      <a:r>
                        <a:rPr lang="ko-KR" altLang="en-US" dirty="0"/>
                        <a:t>방 생성 및 참여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IP/</a:t>
                      </a:r>
                      <a:r>
                        <a:rPr lang="ko-KR" altLang="en-US" dirty="0"/>
                        <a:t>포트번호를 이용하여 방 생성 및 참여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376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2. </a:t>
                      </a:r>
                      <a:r>
                        <a:rPr lang="ko-KR" altLang="en-US" dirty="0"/>
                        <a:t>코인 토스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선공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 err="1"/>
                        <a:t>후공</a:t>
                      </a:r>
                      <a:r>
                        <a:rPr lang="ko-KR" altLang="en-US" dirty="0"/>
                        <a:t> 기능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03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3. </a:t>
                      </a:r>
                      <a:r>
                        <a:rPr lang="ko-KR" altLang="en-US" dirty="0"/>
                        <a:t>발사 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자신의 턴에만 발사 가능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결과는 서버에서 판정</a:t>
                      </a:r>
                      <a:endParaRPr lang="en-US" altLang="ko-KR" dirty="0"/>
                    </a:p>
                    <a:p>
                      <a:pPr>
                        <a:buNone/>
                      </a:pPr>
                      <a:r>
                        <a:rPr lang="ko-KR" altLang="en-US" dirty="0"/>
                        <a:t>조작키를 이용하여 발사 방향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1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4. </a:t>
                      </a:r>
                      <a:r>
                        <a:rPr lang="ko-KR" altLang="en-US" dirty="0"/>
                        <a:t>진짜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가짜 총알 랜덤 배치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총에 </a:t>
                      </a:r>
                      <a:r>
                        <a:rPr lang="en-US" altLang="ko-KR" dirty="0"/>
                        <a:t>2~6</a:t>
                      </a:r>
                      <a:r>
                        <a:rPr lang="ko-KR" altLang="en-US" dirty="0"/>
                        <a:t>개의 진짜 및 가짜 총알 무작위 삽입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272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5.</a:t>
                      </a:r>
                      <a:r>
                        <a:rPr lang="ko-KR" altLang="en-US" dirty="0"/>
                        <a:t>자동 재장전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총알 모두 소진 시 자동으로 새 총알 장전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678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6. HP </a:t>
                      </a:r>
                      <a:r>
                        <a:rPr lang="ko-KR" altLang="en-US" dirty="0"/>
                        <a:t>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각 플레이어 기본 </a:t>
                      </a:r>
                      <a:r>
                        <a:rPr lang="en-US" altLang="ko-KR" dirty="0"/>
                        <a:t>HP </a:t>
                      </a:r>
                      <a:r>
                        <a:rPr lang="ko-KR" altLang="en-US" dirty="0"/>
                        <a:t>부여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기본 피격 시 </a:t>
                      </a:r>
                      <a:r>
                        <a:rPr lang="en-US" altLang="ko-KR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55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7. </a:t>
                      </a:r>
                      <a:r>
                        <a:rPr lang="ko-KR" altLang="en-US" dirty="0"/>
                        <a:t>실시간 상태 갱신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상대 및 자신 </a:t>
                      </a:r>
                      <a:r>
                        <a:rPr lang="en-US" altLang="ko-KR" dirty="0"/>
                        <a:t>HP, </a:t>
                      </a:r>
                      <a:r>
                        <a:rPr lang="ko-KR" altLang="en-US" dirty="0"/>
                        <a:t>진짜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가짜 총알 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턴 정보를 즉시 갱신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673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8. </a:t>
                      </a:r>
                      <a:r>
                        <a:rPr lang="ko-KR" altLang="en-US" dirty="0" err="1"/>
                        <a:t>로그창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모든 발사 결과와 진행 메시지를 시각적으로 출력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579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9. </a:t>
                      </a:r>
                      <a:r>
                        <a:rPr lang="ko-KR" altLang="en-US" dirty="0"/>
                        <a:t>아이템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다양한 특수 아이템 추가</a:t>
                      </a:r>
                      <a:r>
                        <a:rPr lang="en-US" altLang="ko-KR" dirty="0"/>
                        <a:t>(HP</a:t>
                      </a:r>
                      <a:r>
                        <a:rPr lang="ko-KR" altLang="en-US" dirty="0"/>
                        <a:t>회복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진짜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가짜 파악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피격 시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배 데미지 등등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23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10. </a:t>
                      </a:r>
                      <a:r>
                        <a:rPr lang="ko-KR" altLang="en-US" dirty="0"/>
                        <a:t>채팅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기본 채팅 기능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448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96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3AA7-0E1D-EB7A-EB5E-76A25C12F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AF42D-CD7A-61E4-6DE5-0069FF7D0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857374"/>
            <a:ext cx="9144000" cy="1185863"/>
          </a:xfrm>
        </p:spPr>
        <p:txBody>
          <a:bodyPr/>
          <a:lstStyle/>
          <a:p>
            <a:r>
              <a:rPr lang="ko-KR" altLang="en-US" dirty="0"/>
              <a:t>최종 보고서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53F66A-8E71-E2C6-D1C0-53321A90D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10296525" cy="1655762"/>
          </a:xfrm>
        </p:spPr>
        <p:txBody>
          <a:bodyPr/>
          <a:lstStyle/>
          <a:p>
            <a:pPr algn="r"/>
            <a:endParaRPr lang="en-US" altLang="ko-KR" dirty="0"/>
          </a:p>
          <a:p>
            <a:pPr algn="r"/>
            <a:r>
              <a:rPr lang="en-US" altLang="ko-KR" dirty="0"/>
              <a:t>2171073 </a:t>
            </a:r>
            <a:r>
              <a:rPr lang="ko-KR" altLang="ko-KR" dirty="0" err="1"/>
              <a:t>이경석</a:t>
            </a:r>
            <a:endParaRPr lang="en-US" altLang="ko-KR" dirty="0"/>
          </a:p>
          <a:p>
            <a:pPr algn="r"/>
            <a:r>
              <a:rPr lang="en-US" altLang="ko-KR" dirty="0"/>
              <a:t>2171062 </a:t>
            </a:r>
            <a:r>
              <a:rPr lang="ko-KR" altLang="ko-KR" dirty="0"/>
              <a:t>김준현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058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EC759-3E8F-77A0-598A-CADAEFC2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3E1740-D449-4FBA-B68C-208B25C8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1. </a:t>
            </a:r>
            <a:r>
              <a:rPr lang="ko-KR" altLang="en-US" sz="4000" dirty="0"/>
              <a:t>소스파일</a:t>
            </a:r>
            <a:r>
              <a:rPr lang="en-US" altLang="ko-KR" sz="4000" dirty="0"/>
              <a:t>(.java)</a:t>
            </a:r>
            <a:r>
              <a:rPr lang="ko-KR" altLang="en-US" sz="4000" dirty="0"/>
              <a:t> 목록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8436581-12A2-FFA8-63F6-3382732E4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650"/>
            <a:ext cx="10515600" cy="4819649"/>
          </a:xfrm>
        </p:spPr>
        <p:txBody>
          <a:bodyPr>
            <a:normAutofit fontScale="47500" lnSpcReduction="20000"/>
          </a:bodyPr>
          <a:lstStyle/>
          <a:p>
            <a:pPr marL="0" indent="0" latinLnBrk="0">
              <a:buNone/>
            </a:pPr>
            <a:r>
              <a:rPr lang="en-US" altLang="ko-KR" dirty="0" err="1"/>
              <a:t>src</a:t>
            </a:r>
            <a:r>
              <a:rPr lang="en-US" altLang="ko-KR" dirty="0"/>
              <a:t>/</a:t>
            </a:r>
          </a:p>
          <a:p>
            <a:pPr marL="0" indent="0" latinLnBrk="0">
              <a:buNone/>
            </a:pPr>
            <a:r>
              <a:rPr lang="en-US" altLang="ko-KR" dirty="0"/>
              <a:t> ├─ server/</a:t>
            </a:r>
          </a:p>
          <a:p>
            <a:pPr marL="0" indent="0" latinLnBrk="0">
              <a:buNone/>
            </a:pPr>
            <a:r>
              <a:rPr lang="en-US" altLang="ko-KR" dirty="0"/>
              <a:t> │   ├─ ServerGuiMain.java        </a:t>
            </a:r>
            <a:endParaRPr lang="ko-KR" altLang="en-US" dirty="0"/>
          </a:p>
          <a:p>
            <a:pPr marL="0" indent="0" latinLnBrk="0">
              <a:buNone/>
            </a:pPr>
            <a:r>
              <a:rPr lang="ko-KR" altLang="en-US" dirty="0"/>
              <a:t> │   ├─ </a:t>
            </a:r>
            <a:r>
              <a:rPr lang="en-US" altLang="ko-KR" dirty="0"/>
              <a:t>Room.java              </a:t>
            </a:r>
          </a:p>
          <a:p>
            <a:pPr marL="0" indent="0" latinLnBrk="0">
              <a:buNone/>
            </a:pPr>
            <a:r>
              <a:rPr lang="en-US" altLang="ko-KR" dirty="0"/>
              <a:t> │   ├─ ClientHandler.java    </a:t>
            </a:r>
            <a:endParaRPr lang="ko-KR" altLang="en-US" dirty="0"/>
          </a:p>
          <a:p>
            <a:pPr marL="0" indent="0" latinLnBrk="0">
              <a:buNone/>
            </a:pPr>
            <a:r>
              <a:rPr lang="ko-KR" altLang="en-US" dirty="0"/>
              <a:t> │   ├─ </a:t>
            </a:r>
            <a:r>
              <a:rPr lang="en-US" altLang="ko-KR" dirty="0"/>
              <a:t>ServerFrame.java</a:t>
            </a:r>
          </a:p>
          <a:p>
            <a:pPr marL="0" indent="0" latinLnBrk="0">
              <a:buNone/>
            </a:pPr>
            <a:r>
              <a:rPr lang="en-US" altLang="ko-KR" dirty="0"/>
              <a:t> │   ├─ Protocol.java          </a:t>
            </a:r>
            <a:endParaRPr lang="ko-KR" altLang="en-US" dirty="0"/>
          </a:p>
          <a:p>
            <a:pPr marL="0" indent="0" latinLnBrk="0">
              <a:buNone/>
            </a:pPr>
            <a:r>
              <a:rPr lang="ko-KR" altLang="en-US" dirty="0"/>
              <a:t> │   └─ </a:t>
            </a:r>
            <a:r>
              <a:rPr lang="en-US" altLang="ko-KR" dirty="0"/>
              <a:t>ServerCore.java</a:t>
            </a:r>
          </a:p>
          <a:p>
            <a:pPr marL="0" indent="0" latinLnBrk="0">
              <a:buNone/>
            </a:pPr>
            <a:r>
              <a:rPr lang="en-US" altLang="ko-KR" dirty="0"/>
              <a:t> └─ client/</a:t>
            </a:r>
          </a:p>
          <a:p>
            <a:pPr marL="0" indent="0" latinLnBrk="0">
              <a:buNone/>
            </a:pPr>
            <a:r>
              <a:rPr lang="en-US" altLang="ko-KR" dirty="0"/>
              <a:t>     ├─ ClientMain.java        </a:t>
            </a:r>
            <a:endParaRPr lang="ko-KR" altLang="en-US" dirty="0"/>
          </a:p>
          <a:p>
            <a:pPr marL="0" indent="0" latinLnBrk="0">
              <a:buNone/>
            </a:pPr>
            <a:r>
              <a:rPr lang="ko-KR" altLang="en-US" dirty="0"/>
              <a:t>     ├─ </a:t>
            </a:r>
            <a:r>
              <a:rPr lang="en-US" altLang="ko-KR" dirty="0"/>
              <a:t>GameRoomFrame.java        </a:t>
            </a:r>
          </a:p>
          <a:p>
            <a:pPr marL="0" indent="0" latinLnBrk="0">
              <a:buNone/>
            </a:pPr>
            <a:r>
              <a:rPr lang="en-US" altLang="ko-KR" dirty="0"/>
              <a:t>     ├─ ImageLoader.java</a:t>
            </a:r>
          </a:p>
          <a:p>
            <a:pPr marL="0" indent="0" latinLnBrk="0">
              <a:buNone/>
            </a:pPr>
            <a:r>
              <a:rPr lang="en-US" altLang="ko-KR" dirty="0"/>
              <a:t>     ├─ RoomFrame.java         </a:t>
            </a:r>
            <a:endParaRPr lang="ko-KR" altLang="en-US" dirty="0"/>
          </a:p>
          <a:p>
            <a:pPr marL="0" indent="0" latinLnBrk="0">
              <a:buNone/>
            </a:pPr>
            <a:r>
              <a:rPr lang="ko-KR" altLang="en-US" dirty="0"/>
              <a:t>     ├─ </a:t>
            </a:r>
            <a:r>
              <a:rPr lang="en-US" altLang="ko-KR" dirty="0"/>
              <a:t>StartFrame.java</a:t>
            </a:r>
          </a:p>
          <a:p>
            <a:pPr marL="0" indent="0" latinLnBrk="0">
              <a:buNone/>
            </a:pPr>
            <a:r>
              <a:rPr lang="en-US" altLang="ko-KR" dirty="0"/>
              <a:t>     └─ NetworkClient.java</a:t>
            </a:r>
            <a:endParaRPr lang="ko-KR" altLang="en-US" dirty="0"/>
          </a:p>
          <a:p>
            <a:pPr marL="0" indent="0" latinLnBrk="0">
              <a:buNone/>
            </a:pPr>
            <a:r>
              <a:rPr lang="en-US" altLang="ko-KR" dirty="0"/>
              <a:t>resources/</a:t>
            </a:r>
          </a:p>
          <a:p>
            <a:pPr marL="0" indent="0">
              <a:buNone/>
            </a:pPr>
            <a:r>
              <a:rPr lang="en-US" altLang="ko-KR" dirty="0"/>
              <a:t> └─ images/</a:t>
            </a:r>
          </a:p>
        </p:txBody>
      </p:sp>
    </p:spTree>
    <p:extLst>
      <p:ext uri="{BB962C8B-B14F-4D97-AF65-F5344CB8AC3E}">
        <p14:creationId xmlns:p14="http://schemas.microsoft.com/office/powerpoint/2010/main" val="669371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9DDFC-990D-88DA-2665-4602307F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2. </a:t>
            </a:r>
            <a:r>
              <a:rPr lang="ko-KR" altLang="en-US" sz="2800" b="1" dirty="0"/>
              <a:t>소스파일</a:t>
            </a:r>
            <a:r>
              <a:rPr lang="en-US" altLang="ko-KR" sz="2800" b="1" dirty="0"/>
              <a:t>(.java)</a:t>
            </a:r>
            <a:r>
              <a:rPr lang="ko-KR" altLang="en-US" sz="2800" b="1" dirty="0"/>
              <a:t>의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EC99A-F213-C6CE-C23C-F4AB4D936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526"/>
            <a:ext cx="10515600" cy="50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2-1 </a:t>
            </a:r>
            <a:r>
              <a:rPr lang="ko-KR" altLang="en-US" sz="2000" b="1" dirty="0"/>
              <a:t>서버 시작 </a:t>
            </a:r>
            <a:r>
              <a:rPr lang="en-US" altLang="ko-KR" sz="2000" b="1" dirty="0"/>
              <a:t>(Server Bootstrapping)</a:t>
            </a:r>
          </a:p>
          <a:p>
            <a:r>
              <a:rPr lang="ko-KR" altLang="en-US" sz="2000" dirty="0"/>
              <a:t>서버는 클라이언트의 연결을 대기하는 역할을 수행하며</a:t>
            </a:r>
            <a:r>
              <a:rPr lang="en-US" altLang="ko-KR" sz="2000" dirty="0"/>
              <a:t>, ServerGuiMain.java</a:t>
            </a:r>
            <a:r>
              <a:rPr lang="ko-KR" altLang="en-US" sz="2000" dirty="0"/>
              <a:t>에서 시작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819FC3A-BCD5-93CB-793E-F9ECC5DE6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526939"/>
              </p:ext>
            </p:extLst>
          </p:nvPr>
        </p:nvGraphicFramePr>
        <p:xfrm>
          <a:off x="952500" y="1939925"/>
          <a:ext cx="10515600" cy="47180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723803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59176592"/>
                    </a:ext>
                  </a:extLst>
                </a:gridCol>
              </a:tblGrid>
              <a:tr h="4365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역할 및 실행 순서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53134"/>
                  </a:ext>
                </a:extLst>
              </a:tr>
              <a:tr h="934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+mj-lt"/>
                        </a:rPr>
                        <a:t>ServerGuiMain.java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1. </a:t>
                      </a:r>
                      <a:r>
                        <a:rPr lang="ko-KR" altLang="en-US" sz="1600" b="0" dirty="0">
                          <a:latin typeface="+mj-lt"/>
                        </a:rPr>
                        <a:t>시작점</a:t>
                      </a:r>
                      <a:r>
                        <a:rPr lang="en-US" altLang="ko-KR" sz="1600" b="0" dirty="0">
                          <a:latin typeface="+mj-lt"/>
                        </a:rPr>
                        <a:t>: main</a:t>
                      </a:r>
                      <a:r>
                        <a:rPr lang="ko-KR" altLang="en-US" sz="1600" b="0" dirty="0">
                          <a:latin typeface="+mj-lt"/>
                        </a:rPr>
                        <a:t> 메서드에서 </a:t>
                      </a:r>
                      <a:r>
                        <a:rPr lang="en-US" altLang="ko-KR" sz="1600" b="0" dirty="0">
                          <a:latin typeface="+mj-lt"/>
                        </a:rPr>
                        <a:t>Swing </a:t>
                      </a:r>
                      <a:r>
                        <a:rPr lang="ko-KR" altLang="en-US" sz="1600" b="0" dirty="0">
                          <a:latin typeface="+mj-lt"/>
                        </a:rPr>
                        <a:t>스레드를 통해 </a:t>
                      </a:r>
                      <a:r>
                        <a:rPr lang="en-US" altLang="ko-KR" sz="1600" b="0" dirty="0" err="1">
                          <a:latin typeface="+mj-lt"/>
                        </a:rPr>
                        <a:t>ServerFrame</a:t>
                      </a:r>
                      <a:r>
                        <a:rPr lang="ko-KR" altLang="en-US" sz="1600" b="0" dirty="0">
                          <a:latin typeface="+mj-lt"/>
                        </a:rPr>
                        <a:t> 인스턴스를 생성하고 화면에 표시합니다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234749"/>
                  </a:ext>
                </a:extLst>
              </a:tr>
              <a:tr h="691153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+mj-lt"/>
                        </a:rPr>
                        <a:t>ServerFrame.java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2. GUI </a:t>
                      </a:r>
                      <a:r>
                        <a:rPr lang="ko-KR" altLang="en-US" sz="1600" b="0" dirty="0">
                          <a:latin typeface="+mj-lt"/>
                        </a:rPr>
                        <a:t>초기화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ko-KR" altLang="en-US" sz="1600" b="0" dirty="0">
                          <a:latin typeface="+mj-lt"/>
                        </a:rPr>
                        <a:t>서버 </a:t>
                      </a:r>
                      <a:r>
                        <a:rPr lang="en-US" altLang="ko-KR" sz="1600" b="0" dirty="0">
                          <a:latin typeface="+mj-lt"/>
                        </a:rPr>
                        <a:t>GUI(</a:t>
                      </a:r>
                      <a:r>
                        <a:rPr lang="ko-KR" altLang="en-US" sz="1600" b="0" dirty="0">
                          <a:latin typeface="+mj-lt"/>
                        </a:rPr>
                        <a:t>포트 입력</a:t>
                      </a:r>
                      <a:r>
                        <a:rPr lang="en-US" altLang="ko-KR" sz="1600" b="0" dirty="0">
                          <a:latin typeface="+mj-lt"/>
                        </a:rPr>
                        <a:t>, </a:t>
                      </a:r>
                      <a:r>
                        <a:rPr lang="ko-KR" altLang="en-US" sz="1600" b="0" dirty="0">
                          <a:latin typeface="+mj-lt"/>
                        </a:rPr>
                        <a:t>로그 영역</a:t>
                      </a:r>
                      <a:r>
                        <a:rPr lang="en-US" altLang="ko-KR" sz="1600" b="0" dirty="0">
                          <a:latin typeface="+mj-lt"/>
                        </a:rPr>
                        <a:t>, </a:t>
                      </a:r>
                      <a:r>
                        <a:rPr lang="ko-KR" altLang="en-US" sz="1600" b="0" dirty="0">
                          <a:latin typeface="+mj-lt"/>
                        </a:rPr>
                        <a:t>시작</a:t>
                      </a:r>
                      <a:r>
                        <a:rPr lang="en-US" altLang="ko-KR" sz="1600" b="0" dirty="0">
                          <a:latin typeface="+mj-lt"/>
                        </a:rPr>
                        <a:t>/</a:t>
                      </a:r>
                      <a:r>
                        <a:rPr lang="ko-KR" altLang="en-US" sz="1600" b="0" dirty="0">
                          <a:latin typeface="+mj-lt"/>
                        </a:rPr>
                        <a:t>종료 버튼</a:t>
                      </a:r>
                      <a:r>
                        <a:rPr lang="en-US" altLang="ko-KR" sz="1600" b="0" dirty="0">
                          <a:latin typeface="+mj-lt"/>
                        </a:rPr>
                        <a:t>)</a:t>
                      </a:r>
                      <a:r>
                        <a:rPr lang="ko-KR" altLang="en-US" sz="1600" b="0" dirty="0">
                          <a:latin typeface="+mj-lt"/>
                        </a:rPr>
                        <a:t>를 설정합니다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196378"/>
                  </a:ext>
                </a:extLst>
              </a:tr>
              <a:tr h="69115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3. </a:t>
                      </a:r>
                      <a:r>
                        <a:rPr lang="ko-KR" altLang="en-US" sz="1600" b="0" dirty="0">
                          <a:latin typeface="+mj-lt"/>
                        </a:rPr>
                        <a:t>서버 시작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ko-KR" altLang="en-US" sz="1600" b="0" dirty="0">
                          <a:latin typeface="+mj-lt"/>
                        </a:rPr>
                        <a:t>사용자가 </a:t>
                      </a:r>
                      <a:r>
                        <a:rPr lang="en-US" altLang="ko-KR" sz="1600" b="0" dirty="0">
                          <a:latin typeface="+mj-lt"/>
                        </a:rPr>
                        <a:t>'Game Start' </a:t>
                      </a:r>
                      <a:r>
                        <a:rPr lang="ko-KR" altLang="en-US" sz="1600" b="0" dirty="0">
                          <a:latin typeface="+mj-lt"/>
                        </a:rPr>
                        <a:t>버튼을 누르면 </a:t>
                      </a:r>
                      <a:r>
                        <a:rPr lang="en-US" altLang="ko-KR" sz="1600" b="0" dirty="0" err="1">
                          <a:latin typeface="+mj-lt"/>
                        </a:rPr>
                        <a:t>startServer</a:t>
                      </a:r>
                      <a:r>
                        <a:rPr lang="en-US" altLang="ko-KR" sz="1600" b="0" dirty="0">
                          <a:latin typeface="+mj-lt"/>
                        </a:rPr>
                        <a:t>()</a:t>
                      </a:r>
                      <a:r>
                        <a:rPr lang="ko-KR" altLang="en-US" sz="1600" b="0" dirty="0">
                          <a:latin typeface="+mj-lt"/>
                        </a:rPr>
                        <a:t> 메서드가 호출됩니다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759173"/>
                  </a:ext>
                </a:extLst>
              </a:tr>
              <a:tr h="98216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+mj-lt"/>
                        </a:rPr>
                        <a:t>ServerCore.java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4. </a:t>
                      </a:r>
                      <a:r>
                        <a:rPr lang="ko-KR" altLang="en-US" sz="1600" b="0" dirty="0">
                          <a:latin typeface="+mj-lt"/>
                        </a:rPr>
                        <a:t>코어 시작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en-US" altLang="ko-KR" sz="1600" b="0" dirty="0" err="1">
                          <a:latin typeface="+mj-lt"/>
                        </a:rPr>
                        <a:t>ServerCore</a:t>
                      </a:r>
                      <a:r>
                        <a:rPr lang="ko-KR" altLang="en-US" sz="1600" b="0" dirty="0">
                          <a:latin typeface="+mj-lt"/>
                        </a:rPr>
                        <a:t> 인스턴스를 생성하고</a:t>
                      </a:r>
                      <a:r>
                        <a:rPr lang="en-US" altLang="ko-KR" sz="1600" b="0" dirty="0">
                          <a:latin typeface="+mj-lt"/>
                        </a:rPr>
                        <a:t>, </a:t>
                      </a:r>
                      <a:r>
                        <a:rPr lang="ko-KR" altLang="en-US" sz="1600" b="0" dirty="0">
                          <a:latin typeface="+mj-lt"/>
                        </a:rPr>
                        <a:t>지정된 포트로 </a:t>
                      </a:r>
                      <a:r>
                        <a:rPr lang="en-US" altLang="ko-KR" sz="1600" b="0" dirty="0" err="1">
                          <a:latin typeface="+mj-lt"/>
                        </a:rPr>
                        <a:t>ServerSocket</a:t>
                      </a:r>
                      <a:r>
                        <a:rPr lang="ko-KR" altLang="en-US" sz="1600" b="0" dirty="0">
                          <a:latin typeface="+mj-lt"/>
                        </a:rPr>
                        <a:t>을 열어 </a:t>
                      </a:r>
                      <a:r>
                        <a:rPr lang="en-US" altLang="ko-KR" sz="1600" b="0" dirty="0">
                          <a:latin typeface="+mj-lt"/>
                        </a:rPr>
                        <a:t>start(port)</a:t>
                      </a:r>
                      <a:r>
                        <a:rPr lang="ko-KR" altLang="en-US" sz="1600" b="0" dirty="0">
                          <a:latin typeface="+mj-lt"/>
                        </a:rPr>
                        <a:t> 메서드를 실행합니다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776855"/>
                  </a:ext>
                </a:extLst>
              </a:tr>
              <a:tr h="98216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5. </a:t>
                      </a:r>
                      <a:r>
                        <a:rPr lang="ko-KR" altLang="en-US" sz="1600" b="0" dirty="0">
                          <a:latin typeface="+mj-lt"/>
                        </a:rPr>
                        <a:t>연결 대기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en-US" altLang="ko-KR" sz="1600" b="0" dirty="0" err="1">
                          <a:latin typeface="+mj-lt"/>
                        </a:rPr>
                        <a:t>acceptLoop</a:t>
                      </a:r>
                      <a:r>
                        <a:rPr lang="en-US" altLang="ko-KR" sz="1600" b="0" dirty="0">
                          <a:latin typeface="+mj-lt"/>
                        </a:rPr>
                        <a:t>()</a:t>
                      </a:r>
                      <a:r>
                        <a:rPr lang="ko-KR" altLang="en-US" sz="1600" b="0" dirty="0">
                          <a:latin typeface="+mj-lt"/>
                        </a:rPr>
                        <a:t> 스레드를 시작하여 두 명의 클라이언트</a:t>
                      </a:r>
                      <a:r>
                        <a:rPr lang="en-US" altLang="ko-KR" sz="1600" b="0" dirty="0">
                          <a:latin typeface="+mj-lt"/>
                        </a:rPr>
                        <a:t>(P1, P2)</a:t>
                      </a:r>
                      <a:r>
                        <a:rPr lang="ko-KR" altLang="en-US" sz="1600" b="0" dirty="0">
                          <a:latin typeface="+mj-lt"/>
                        </a:rPr>
                        <a:t>가 연결될 때까지 </a:t>
                      </a:r>
                      <a:r>
                        <a:rPr lang="ko-KR" altLang="en-US" sz="1600" b="0" dirty="0" err="1">
                          <a:latin typeface="+mj-lt"/>
                        </a:rPr>
                        <a:t>블록킹</a:t>
                      </a:r>
                      <a:r>
                        <a:rPr lang="ko-KR" altLang="en-US" sz="1600" b="0" dirty="0">
                          <a:latin typeface="+mj-lt"/>
                        </a:rPr>
                        <a:t> 상태로 대기합니다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063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667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9622-411E-78B3-558F-B78F5210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3AEF3-FC25-7165-56CC-7BFF86A8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2. </a:t>
            </a:r>
            <a:r>
              <a:rPr lang="ko-KR" altLang="en-US" sz="2800" b="1" dirty="0"/>
              <a:t>소스파일</a:t>
            </a:r>
            <a:r>
              <a:rPr lang="en-US" altLang="ko-KR" sz="2800" b="1" dirty="0"/>
              <a:t>(.java)</a:t>
            </a:r>
            <a:r>
              <a:rPr lang="ko-KR" altLang="en-US" sz="2800" b="1" dirty="0"/>
              <a:t>의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9EE0DC-AEE1-E987-4D0D-E15B01839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526"/>
            <a:ext cx="10515600" cy="50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2-2 </a:t>
            </a:r>
            <a:r>
              <a:rPr lang="ko-KR" altLang="en-US" sz="2000" b="1" dirty="0"/>
              <a:t>클라이언트 연결 및 로비 진입 </a:t>
            </a:r>
            <a:r>
              <a:rPr lang="en-US" altLang="ko-KR" sz="2000" b="1" dirty="0"/>
              <a:t>(Client Connection &amp; Lobby)</a:t>
            </a:r>
          </a:p>
          <a:p>
            <a:r>
              <a:rPr lang="ko-KR" altLang="en-US" sz="2000" dirty="0">
                <a:latin typeface="+mj-lt"/>
              </a:rPr>
              <a:t>두 명의 클라이언트가 서버에 연결되어 게임 </a:t>
            </a:r>
            <a:r>
              <a:rPr lang="ko-KR" altLang="en-US" sz="2000" dirty="0" err="1">
                <a:latin typeface="+mj-lt"/>
              </a:rPr>
              <a:t>대기방</a:t>
            </a:r>
            <a:r>
              <a:rPr lang="en-US" altLang="ko-KR" sz="2000" dirty="0">
                <a:latin typeface="+mj-lt"/>
              </a:rPr>
              <a:t>(</a:t>
            </a:r>
            <a:r>
              <a:rPr lang="en-US" altLang="ko-KR" sz="2000" dirty="0" err="1">
                <a:latin typeface="+mj-lt"/>
              </a:rPr>
              <a:t>RoomFrame</a:t>
            </a:r>
            <a:r>
              <a:rPr lang="en-US" altLang="ko-KR" sz="2000" dirty="0">
                <a:latin typeface="+mj-lt"/>
              </a:rPr>
              <a:t>)</a:t>
            </a:r>
            <a:r>
              <a:rPr lang="ko-KR" altLang="en-US" sz="2000" dirty="0">
                <a:latin typeface="+mj-lt"/>
              </a:rPr>
              <a:t>에 진입하는 단계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D9E0FB8-A1C4-4631-8348-8F7B752D9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537503"/>
              </p:ext>
            </p:extLst>
          </p:nvPr>
        </p:nvGraphicFramePr>
        <p:xfrm>
          <a:off x="838200" y="2124075"/>
          <a:ext cx="10515600" cy="42282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446678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42423417"/>
                    </a:ext>
                  </a:extLst>
                </a:gridCol>
              </a:tblGrid>
              <a:tr h="586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j-lt"/>
                        </a:rPr>
                        <a:t>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역할 및 실행 순서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113082"/>
                  </a:ext>
                </a:extLst>
              </a:tr>
              <a:tr h="586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+mj-lt"/>
                        </a:rPr>
                        <a:t>ClientMain.java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1. </a:t>
                      </a:r>
                      <a:r>
                        <a:rPr lang="ko-KR" altLang="en-US" sz="1600" b="0" dirty="0">
                          <a:latin typeface="+mj-lt"/>
                        </a:rPr>
                        <a:t>클라이언트 시작점</a:t>
                      </a:r>
                      <a:r>
                        <a:rPr lang="en-US" altLang="ko-KR" sz="1600" b="0" dirty="0">
                          <a:latin typeface="+mj-lt"/>
                        </a:rPr>
                        <a:t>: main</a:t>
                      </a:r>
                      <a:r>
                        <a:rPr lang="ko-KR" altLang="en-US" sz="1600" b="0" dirty="0">
                          <a:latin typeface="+mj-lt"/>
                        </a:rPr>
                        <a:t> 메서드에서 </a:t>
                      </a:r>
                      <a:r>
                        <a:rPr lang="en-US" altLang="ko-KR" sz="1600" b="0" dirty="0" err="1">
                          <a:latin typeface="+mj-lt"/>
                        </a:rPr>
                        <a:t>StartFrame</a:t>
                      </a:r>
                      <a:r>
                        <a:rPr lang="ko-KR" altLang="en-US" sz="1600" b="0" dirty="0">
                          <a:latin typeface="+mj-lt"/>
                        </a:rPr>
                        <a:t>을 실행합니다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691281"/>
                  </a:ext>
                </a:extLst>
              </a:tr>
              <a:tr h="7848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+mj-lt"/>
                        </a:rPr>
                        <a:t>StartFrame.java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2. </a:t>
                      </a:r>
                      <a:r>
                        <a:rPr lang="ko-KR" altLang="en-US" sz="1600" b="0" dirty="0">
                          <a:latin typeface="+mj-lt"/>
                        </a:rPr>
                        <a:t>연결 정보 입력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ko-KR" altLang="en-US" sz="1600" b="0" dirty="0">
                          <a:latin typeface="+mj-lt"/>
                        </a:rPr>
                        <a:t>사용자에게 </a:t>
                      </a:r>
                      <a:r>
                        <a:rPr lang="en-US" altLang="ko-KR" sz="1600" b="0" dirty="0">
                          <a:latin typeface="+mj-lt"/>
                        </a:rPr>
                        <a:t>Host, Port, Name</a:t>
                      </a:r>
                      <a:r>
                        <a:rPr lang="ko-KR" altLang="en-US" sz="1600" b="0" dirty="0">
                          <a:latin typeface="+mj-lt"/>
                        </a:rPr>
                        <a:t>을 </a:t>
                      </a:r>
                      <a:r>
                        <a:rPr lang="ko-KR" altLang="en-US" sz="1600" b="0" dirty="0" err="1">
                          <a:latin typeface="+mj-lt"/>
                        </a:rPr>
                        <a:t>입력받고</a:t>
                      </a:r>
                      <a:r>
                        <a:rPr lang="ko-KR" altLang="en-US" sz="1600" b="0" dirty="0">
                          <a:latin typeface="+mj-lt"/>
                        </a:rPr>
                        <a:t> </a:t>
                      </a:r>
                      <a:r>
                        <a:rPr lang="en-US" altLang="ko-KR" sz="1600" b="0" dirty="0">
                          <a:latin typeface="+mj-lt"/>
                        </a:rPr>
                        <a:t>'Connect'</a:t>
                      </a:r>
                      <a:r>
                        <a:rPr lang="ko-KR" altLang="en-US" sz="1600" b="0" dirty="0">
                          <a:latin typeface="+mj-lt"/>
                        </a:rPr>
                        <a:t>를 누르면 </a:t>
                      </a:r>
                      <a:r>
                        <a:rPr lang="en-US" altLang="ko-KR" sz="1600" b="0" dirty="0">
                          <a:latin typeface="+mj-lt"/>
                        </a:rPr>
                        <a:t>connect()</a:t>
                      </a:r>
                      <a:r>
                        <a:rPr lang="ko-KR" altLang="en-US" sz="1600" b="0" dirty="0">
                          <a:latin typeface="+mj-lt"/>
                        </a:rPr>
                        <a:t> 메서드가 호출됩니다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473654"/>
                  </a:ext>
                </a:extLst>
              </a:tr>
              <a:tr h="78480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3. </a:t>
                      </a:r>
                      <a:r>
                        <a:rPr lang="ko-KR" altLang="en-US" sz="1600" b="0" dirty="0">
                          <a:latin typeface="+mj-lt"/>
                        </a:rPr>
                        <a:t>로비 진입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en-US" altLang="ko-KR" sz="1600" b="0" dirty="0" err="1">
                          <a:latin typeface="+mj-lt"/>
                        </a:rPr>
                        <a:t>RoomFrame</a:t>
                      </a:r>
                      <a:r>
                        <a:rPr lang="ko-KR" altLang="en-US" sz="1600" b="0" dirty="0">
                          <a:latin typeface="+mj-lt"/>
                        </a:rPr>
                        <a:t> 인스턴스를 생성하며 서버 연결을 시도하고</a:t>
                      </a:r>
                      <a:r>
                        <a:rPr lang="en-US" altLang="ko-KR" sz="1600" b="0" dirty="0">
                          <a:latin typeface="+mj-lt"/>
                        </a:rPr>
                        <a:t>, </a:t>
                      </a:r>
                      <a:r>
                        <a:rPr lang="ko-KR" altLang="en-US" sz="1600" b="0" dirty="0">
                          <a:latin typeface="+mj-lt"/>
                        </a:rPr>
                        <a:t>성공 시 </a:t>
                      </a:r>
                      <a:r>
                        <a:rPr lang="en-US" altLang="ko-KR" sz="1600" b="0" dirty="0" err="1">
                          <a:latin typeface="+mj-lt"/>
                        </a:rPr>
                        <a:t>RoomFrame</a:t>
                      </a:r>
                      <a:r>
                        <a:rPr lang="ko-KR" altLang="en-US" sz="1600" b="0" dirty="0">
                          <a:latin typeface="+mj-lt"/>
                        </a:rPr>
                        <a:t>을 표시하고 자신은 종료됩니다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45186"/>
                  </a:ext>
                </a:extLst>
              </a:tr>
              <a:tr h="7848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+mj-lt"/>
                        </a:rPr>
                        <a:t>NetworkClient.java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4. </a:t>
                      </a:r>
                      <a:r>
                        <a:rPr lang="ko-KR" altLang="en-US" sz="1600" b="0" dirty="0">
                          <a:latin typeface="+mj-lt"/>
                        </a:rPr>
                        <a:t>서버 연결</a:t>
                      </a:r>
                      <a:r>
                        <a:rPr lang="en-US" altLang="ko-KR" sz="1600" b="0" dirty="0">
                          <a:latin typeface="+mj-lt"/>
                        </a:rPr>
                        <a:t>: connect()</a:t>
                      </a:r>
                      <a:r>
                        <a:rPr lang="ko-KR" altLang="en-US" sz="1600" b="0" dirty="0">
                          <a:latin typeface="+mj-lt"/>
                        </a:rPr>
                        <a:t> 메서드에서 </a:t>
                      </a:r>
                      <a:r>
                        <a:rPr lang="en-US" altLang="ko-KR" sz="1600" b="0" dirty="0">
                          <a:latin typeface="+mj-lt"/>
                        </a:rPr>
                        <a:t>Socket</a:t>
                      </a:r>
                      <a:r>
                        <a:rPr lang="ko-KR" altLang="en-US" sz="1600" b="0" dirty="0">
                          <a:latin typeface="+mj-lt"/>
                        </a:rPr>
                        <a:t> 연결을 수립하고</a:t>
                      </a:r>
                      <a:r>
                        <a:rPr lang="en-US" altLang="ko-KR" sz="1600" b="0" dirty="0">
                          <a:latin typeface="+mj-lt"/>
                        </a:rPr>
                        <a:t>, </a:t>
                      </a:r>
                      <a:r>
                        <a:rPr lang="ko-KR" altLang="en-US" sz="1600" b="0" dirty="0">
                          <a:latin typeface="+mj-lt"/>
                        </a:rPr>
                        <a:t>서버와 </a:t>
                      </a:r>
                      <a:r>
                        <a:rPr lang="en-US" altLang="ko-KR" sz="1600" b="0" dirty="0">
                          <a:latin typeface="+mj-lt"/>
                        </a:rPr>
                        <a:t>HELLO</a:t>
                      </a:r>
                      <a:r>
                        <a:rPr lang="ko-KR" altLang="en-US" sz="1600" b="0" dirty="0">
                          <a:latin typeface="+mj-lt"/>
                        </a:rPr>
                        <a:t> 프로토콜을 교환하여 닉네임을 전송합니다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822484"/>
                  </a:ext>
                </a:extLst>
              </a:tr>
              <a:tr h="58644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5. </a:t>
                      </a:r>
                      <a:r>
                        <a:rPr lang="ko-KR" altLang="en-US" sz="1600" b="0" dirty="0" err="1">
                          <a:latin typeface="+mj-lt"/>
                        </a:rPr>
                        <a:t>리스너</a:t>
                      </a:r>
                      <a:r>
                        <a:rPr lang="ko-KR" altLang="en-US" sz="1600" b="0" dirty="0">
                          <a:latin typeface="+mj-lt"/>
                        </a:rPr>
                        <a:t> 시작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ko-KR" altLang="en-US" sz="1600" b="0" dirty="0">
                          <a:latin typeface="+mj-lt"/>
                        </a:rPr>
                        <a:t>서버로부터 메시지를 비동기적으로 수신하기 위해 </a:t>
                      </a:r>
                      <a:r>
                        <a:rPr lang="en-US" altLang="ko-KR" sz="1600" b="0" dirty="0">
                          <a:latin typeface="+mj-lt"/>
                        </a:rPr>
                        <a:t>listen()</a:t>
                      </a:r>
                      <a:r>
                        <a:rPr lang="ko-KR" altLang="en-US" sz="1600" b="0" dirty="0">
                          <a:latin typeface="+mj-lt"/>
                        </a:rPr>
                        <a:t> 스레드를 시작합니다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144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28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9E7B0-96D7-CBCE-43DE-16553814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2E53A-F6B4-7DEC-D199-9C1ADBA4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2. </a:t>
            </a:r>
            <a:r>
              <a:rPr lang="ko-KR" altLang="en-US" sz="2800" b="1" dirty="0"/>
              <a:t>소스파일</a:t>
            </a:r>
            <a:r>
              <a:rPr lang="en-US" altLang="ko-KR" sz="2800" b="1" dirty="0"/>
              <a:t>(.java)</a:t>
            </a:r>
            <a:r>
              <a:rPr lang="ko-KR" altLang="en-US" sz="2800" b="1" dirty="0"/>
              <a:t>의 실행 순서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83CA309-8088-8E60-97E8-ABF4A44B3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860335"/>
              </p:ext>
            </p:extLst>
          </p:nvPr>
        </p:nvGraphicFramePr>
        <p:xfrm>
          <a:off x="838200" y="2105025"/>
          <a:ext cx="10515600" cy="4189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446678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42423417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역할 및 실행 순서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113082"/>
                  </a:ext>
                </a:extLst>
              </a:tr>
              <a:tr h="53516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ServerCore.java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>
                          <a:latin typeface="+mj-lt"/>
                        </a:rPr>
                        <a:t>6. </a:t>
                      </a:r>
                      <a:r>
                        <a:rPr lang="ko-KR" altLang="en-US" sz="1600" b="0">
                          <a:latin typeface="+mj-lt"/>
                        </a:rPr>
                        <a:t>클라이언트 수락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두 클라이언트</a:t>
                      </a:r>
                      <a:r>
                        <a:rPr lang="en-US" altLang="ko-KR" sz="1600" b="0">
                          <a:latin typeface="+mj-lt"/>
                        </a:rPr>
                        <a:t>(P1, P2)</a:t>
                      </a:r>
                      <a:r>
                        <a:rPr lang="ko-KR" altLang="en-US" sz="1600" b="0">
                          <a:latin typeface="+mj-lt"/>
                        </a:rPr>
                        <a:t>의 연결을 수락하고 닉네임을 확인합니다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691281"/>
                  </a:ext>
                </a:extLst>
              </a:tr>
              <a:tr h="70056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7. </a:t>
                      </a:r>
                      <a:r>
                        <a:rPr lang="ko-KR" altLang="en-US" sz="1600" b="0" dirty="0" err="1">
                          <a:latin typeface="+mj-lt"/>
                        </a:rPr>
                        <a:t>핸들러</a:t>
                      </a:r>
                      <a:r>
                        <a:rPr lang="ko-KR" altLang="en-US" sz="1600" b="0" dirty="0">
                          <a:latin typeface="+mj-lt"/>
                        </a:rPr>
                        <a:t> 및 룸 생성</a:t>
                      </a:r>
                      <a:r>
                        <a:rPr lang="en-US" altLang="ko-KR" sz="1600" b="0" dirty="0">
                          <a:latin typeface="+mj-lt"/>
                        </a:rPr>
                        <a:t>: P1, P2 </a:t>
                      </a:r>
                      <a:r>
                        <a:rPr lang="ko-KR" altLang="en-US" sz="1600" b="0" dirty="0">
                          <a:latin typeface="+mj-lt"/>
                        </a:rPr>
                        <a:t>각각 </a:t>
                      </a:r>
                      <a:r>
                        <a:rPr lang="en-US" altLang="ko-KR" sz="1600" b="0" dirty="0" err="1">
                          <a:latin typeface="+mj-lt"/>
                        </a:rPr>
                        <a:t>ClientHandler</a:t>
                      </a:r>
                      <a:r>
                        <a:rPr lang="ko-KR" altLang="en-US" sz="1600" b="0" dirty="0">
                          <a:latin typeface="+mj-lt"/>
                        </a:rPr>
                        <a:t>를 생성하고</a:t>
                      </a:r>
                      <a:r>
                        <a:rPr lang="en-US" altLang="ko-KR" sz="1600" b="0" dirty="0">
                          <a:latin typeface="+mj-lt"/>
                        </a:rPr>
                        <a:t>, </a:t>
                      </a:r>
                      <a:r>
                        <a:rPr lang="ko-KR" altLang="en-US" sz="1600" b="0" dirty="0">
                          <a:latin typeface="+mj-lt"/>
                        </a:rPr>
                        <a:t>두 </a:t>
                      </a:r>
                      <a:r>
                        <a:rPr lang="ko-KR" altLang="en-US" sz="1600" b="0" dirty="0" err="1">
                          <a:latin typeface="+mj-lt"/>
                        </a:rPr>
                        <a:t>핸들러를</a:t>
                      </a:r>
                      <a:r>
                        <a:rPr lang="ko-KR" altLang="en-US" sz="1600" b="0" dirty="0">
                          <a:latin typeface="+mj-lt"/>
                        </a:rPr>
                        <a:t> 묶어 </a:t>
                      </a:r>
                      <a:r>
                        <a:rPr lang="en-US" altLang="ko-KR" sz="1600" b="0" dirty="0">
                          <a:latin typeface="+mj-lt"/>
                        </a:rPr>
                        <a:t>Room</a:t>
                      </a:r>
                      <a:r>
                        <a:rPr lang="ko-KR" altLang="en-US" sz="1600" b="0" dirty="0">
                          <a:latin typeface="+mj-lt"/>
                        </a:rPr>
                        <a:t> 인스턴스를 생성합니다</a:t>
                      </a:r>
                      <a:r>
                        <a:rPr lang="en-US" altLang="ko-KR" sz="1600" b="0" dirty="0">
                          <a:latin typeface="+mj-lt"/>
                        </a:rPr>
                        <a:t>. </a:t>
                      </a:r>
                      <a:r>
                        <a:rPr lang="ko-KR" altLang="en-US" sz="1600" b="0" dirty="0">
                          <a:latin typeface="+mj-lt"/>
                        </a:rPr>
                        <a:t>각 </a:t>
                      </a:r>
                      <a:r>
                        <a:rPr lang="ko-KR" altLang="en-US" sz="1600" b="0" dirty="0" err="1">
                          <a:latin typeface="+mj-lt"/>
                        </a:rPr>
                        <a:t>핸들러</a:t>
                      </a:r>
                      <a:r>
                        <a:rPr lang="ko-KR" altLang="en-US" sz="1600" b="0" dirty="0">
                          <a:latin typeface="+mj-lt"/>
                        </a:rPr>
                        <a:t> 스레드를 시작합니다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473654"/>
                  </a:ext>
                </a:extLst>
              </a:tr>
              <a:tr h="7005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Room.java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8. </a:t>
                      </a:r>
                      <a:r>
                        <a:rPr lang="ko-KR" altLang="en-US" sz="1600" b="0" dirty="0">
                          <a:latin typeface="+mj-lt"/>
                        </a:rPr>
                        <a:t>로비 알림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en-US" sz="1600" b="0" dirty="0" err="1">
                          <a:latin typeface="+mj-lt"/>
                        </a:rPr>
                        <a:t>announceCreatedAndReady</a:t>
                      </a:r>
                      <a:r>
                        <a:rPr lang="en-US" sz="1600" b="0" dirty="0">
                          <a:latin typeface="+mj-lt"/>
                        </a:rPr>
                        <a:t>()</a:t>
                      </a:r>
                      <a:r>
                        <a:rPr lang="ko-KR" altLang="en-US" sz="1600" b="0" dirty="0">
                          <a:latin typeface="+mj-lt"/>
                        </a:rPr>
                        <a:t>를 통해 두 클라이언트에게 </a:t>
                      </a:r>
                      <a:r>
                        <a:rPr lang="en-US" sz="1600" b="0" dirty="0">
                          <a:latin typeface="+mj-lt"/>
                        </a:rPr>
                        <a:t>ROOM_CREATED </a:t>
                      </a:r>
                      <a:r>
                        <a:rPr lang="ko-KR" altLang="en-US" sz="1600" b="0" dirty="0">
                          <a:latin typeface="+mj-lt"/>
                        </a:rPr>
                        <a:t>및 </a:t>
                      </a:r>
                      <a:r>
                        <a:rPr lang="en-US" sz="1600" b="0" dirty="0">
                          <a:latin typeface="+mj-lt"/>
                        </a:rPr>
                        <a:t>ENTER_ROOM </a:t>
                      </a:r>
                      <a:r>
                        <a:rPr lang="ko-KR" altLang="en-US" sz="1600" b="0" dirty="0">
                          <a:latin typeface="+mj-lt"/>
                        </a:rPr>
                        <a:t>메시지를 방송합니다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45186"/>
                  </a:ext>
                </a:extLst>
              </a:tr>
              <a:tr h="7005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RoomFrame.java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9. </a:t>
                      </a:r>
                      <a:r>
                        <a:rPr lang="ko-KR" altLang="en-US" sz="1600" b="0" dirty="0">
                          <a:latin typeface="+mj-lt"/>
                        </a:rPr>
                        <a:t>로비 상태 표시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en-US" altLang="ko-KR" sz="1600" b="0" dirty="0" err="1">
                          <a:latin typeface="+mj-lt"/>
                        </a:rPr>
                        <a:t>handleServerLine</a:t>
                      </a:r>
                      <a:r>
                        <a:rPr lang="ko-KR" altLang="en-US" sz="1600" b="0" dirty="0">
                          <a:latin typeface="+mj-lt"/>
                        </a:rPr>
                        <a:t> 메서드에서 </a:t>
                      </a:r>
                      <a:r>
                        <a:rPr lang="en-US" altLang="ko-KR" sz="1600" b="0" dirty="0">
                          <a:latin typeface="+mj-lt"/>
                        </a:rPr>
                        <a:t>ENTER_ROOM</a:t>
                      </a:r>
                      <a:r>
                        <a:rPr lang="ko-KR" altLang="en-US" sz="1600" b="0" dirty="0">
                          <a:latin typeface="+mj-lt"/>
                        </a:rPr>
                        <a:t> 메시지를 수신하여 </a:t>
                      </a:r>
                      <a:r>
                        <a:rPr lang="en-US" altLang="ko-KR" sz="1600" b="0" dirty="0">
                          <a:latin typeface="+mj-lt"/>
                        </a:rPr>
                        <a:t>Ready </a:t>
                      </a:r>
                      <a:r>
                        <a:rPr lang="ko-KR" altLang="en-US" sz="1600" b="0" dirty="0">
                          <a:latin typeface="+mj-lt"/>
                        </a:rPr>
                        <a:t>버튼을 활성화하고 상태를 표시합니다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822484"/>
                  </a:ext>
                </a:extLst>
              </a:tr>
              <a:tr h="535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ServerCore.java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6. </a:t>
                      </a:r>
                      <a:r>
                        <a:rPr lang="ko-KR" altLang="en-US" sz="1600" b="0" dirty="0">
                          <a:latin typeface="+mj-lt"/>
                        </a:rPr>
                        <a:t>클라이언트 수락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ko-KR" altLang="en-US" sz="1600" b="0" dirty="0">
                          <a:latin typeface="+mj-lt"/>
                        </a:rPr>
                        <a:t>두 클라이언트</a:t>
                      </a:r>
                      <a:r>
                        <a:rPr lang="en-US" altLang="ko-KR" sz="1600" b="0" dirty="0">
                          <a:latin typeface="+mj-lt"/>
                        </a:rPr>
                        <a:t>(P1, P2)</a:t>
                      </a:r>
                      <a:r>
                        <a:rPr lang="ko-KR" altLang="en-US" sz="1600" b="0" dirty="0">
                          <a:latin typeface="+mj-lt"/>
                        </a:rPr>
                        <a:t>의 연결을 수락하고 닉네임을 확인합니다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144349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F62ED5F-4504-E7B2-6C96-718E76AB4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526"/>
            <a:ext cx="10515600" cy="50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2-2 </a:t>
            </a:r>
            <a:r>
              <a:rPr lang="ko-KR" altLang="en-US" sz="2000" b="1" dirty="0"/>
              <a:t>클라이언트 연결 및 로비 진입 </a:t>
            </a:r>
            <a:r>
              <a:rPr lang="en-US" altLang="ko-KR" sz="2000" b="1" dirty="0"/>
              <a:t>(Client Connection &amp; Lobby)</a:t>
            </a:r>
          </a:p>
          <a:p>
            <a:r>
              <a:rPr lang="ko-KR" altLang="en-US" sz="2000" dirty="0">
                <a:latin typeface="+mj-lt"/>
              </a:rPr>
              <a:t>두 명의 클라이언트가 서버에 연결되어 게임 </a:t>
            </a:r>
            <a:r>
              <a:rPr lang="ko-KR" altLang="en-US" sz="2000" dirty="0" err="1">
                <a:latin typeface="+mj-lt"/>
              </a:rPr>
              <a:t>대기방</a:t>
            </a:r>
            <a:r>
              <a:rPr lang="en-US" altLang="ko-KR" sz="2000" dirty="0">
                <a:latin typeface="+mj-lt"/>
              </a:rPr>
              <a:t>(</a:t>
            </a:r>
            <a:r>
              <a:rPr lang="en-US" altLang="ko-KR" sz="2000" dirty="0" err="1">
                <a:latin typeface="+mj-lt"/>
              </a:rPr>
              <a:t>RoomFrame</a:t>
            </a:r>
            <a:r>
              <a:rPr lang="en-US" altLang="ko-KR" sz="2000" dirty="0">
                <a:latin typeface="+mj-lt"/>
              </a:rPr>
              <a:t>)</a:t>
            </a:r>
            <a:r>
              <a:rPr lang="ko-KR" altLang="en-US" sz="2000" dirty="0">
                <a:latin typeface="+mj-lt"/>
              </a:rPr>
              <a:t>에 진입하는 단계</a:t>
            </a:r>
          </a:p>
        </p:txBody>
      </p:sp>
    </p:spTree>
    <p:extLst>
      <p:ext uri="{BB962C8B-B14F-4D97-AF65-F5344CB8AC3E}">
        <p14:creationId xmlns:p14="http://schemas.microsoft.com/office/powerpoint/2010/main" val="263087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AF79E-7515-60E8-D749-23E789C6F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0C418-DE03-0621-731D-3EACB2CC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2. </a:t>
            </a:r>
            <a:r>
              <a:rPr lang="ko-KR" altLang="en-US" sz="2800" b="1" dirty="0"/>
              <a:t>소스파일</a:t>
            </a:r>
            <a:r>
              <a:rPr lang="en-US" altLang="ko-KR" sz="2800" b="1" dirty="0"/>
              <a:t>(.java)</a:t>
            </a:r>
            <a:r>
              <a:rPr lang="ko-KR" altLang="en-US" sz="2800" b="1" dirty="0"/>
              <a:t>의 실행 순서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A9F270-3BD8-E8F5-41A0-B6421B90E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526"/>
            <a:ext cx="10515600" cy="50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2-3. </a:t>
            </a:r>
            <a:r>
              <a:rPr lang="ko-KR" altLang="en-US" sz="2000" b="1" dirty="0"/>
              <a:t>게임 시작 및 진행 </a:t>
            </a:r>
            <a:r>
              <a:rPr lang="en-US" altLang="ko-KR" sz="2000" b="1" dirty="0"/>
              <a:t>(Game Start and Gameplay)</a:t>
            </a:r>
          </a:p>
          <a:p>
            <a:r>
              <a:rPr lang="ko-KR" altLang="en-US" sz="2000" dirty="0"/>
              <a:t>두 클라이언트가 </a:t>
            </a:r>
            <a:r>
              <a:rPr lang="en-US" altLang="ko-KR" sz="2000" dirty="0"/>
              <a:t>READY</a:t>
            </a:r>
            <a:r>
              <a:rPr lang="ko-KR" altLang="en-US" sz="2000" dirty="0"/>
              <a:t> 상태가 되면 게임이 시작되고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GameRoomFrame</a:t>
            </a:r>
            <a:r>
              <a:rPr lang="ko-KR" altLang="en-US" sz="2000" dirty="0"/>
              <a:t>에서 러시안 </a:t>
            </a:r>
            <a:r>
              <a:rPr lang="ko-KR" altLang="en-US" sz="2000" dirty="0" err="1"/>
              <a:t>룰렛</a:t>
            </a:r>
            <a:r>
              <a:rPr lang="ko-KR" altLang="en-US" sz="2000" dirty="0"/>
              <a:t> 로직이 실행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671329-6560-8FC4-9917-9E5A7AA97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787173"/>
              </p:ext>
            </p:extLst>
          </p:nvPr>
        </p:nvGraphicFramePr>
        <p:xfrm>
          <a:off x="838200" y="2286000"/>
          <a:ext cx="10515600" cy="40726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3525">
                  <a:extLst>
                    <a:ext uri="{9D8B030D-6E8A-4147-A177-3AD203B41FA5}">
                      <a16:colId xmlns:a16="http://schemas.microsoft.com/office/drawing/2014/main" val="1621301239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1400998708"/>
                    </a:ext>
                  </a:extLst>
                </a:gridCol>
                <a:gridCol w="5676900">
                  <a:extLst>
                    <a:ext uri="{9D8B030D-6E8A-4147-A177-3AD203B41FA5}">
                      <a16:colId xmlns:a16="http://schemas.microsoft.com/office/drawing/2014/main" val="3634885077"/>
                    </a:ext>
                  </a:extLst>
                </a:gridCol>
              </a:tblGrid>
              <a:tr h="5818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>
                          <a:latin typeface="+mj-lt"/>
                        </a:rPr>
                        <a:t>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주요 로직 및 프로토콜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687045"/>
                  </a:ext>
                </a:extLst>
              </a:tr>
              <a:tr h="581806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준비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RoomFrame.java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>
                          <a:latin typeface="+mj-lt"/>
                        </a:rPr>
                        <a:t>1. </a:t>
                      </a:r>
                      <a:r>
                        <a:rPr lang="ko-KR" altLang="en-US" sz="1600" b="0">
                          <a:latin typeface="+mj-lt"/>
                        </a:rPr>
                        <a:t>클라이언트가 </a:t>
                      </a:r>
                      <a:r>
                        <a:rPr lang="en-US" altLang="ko-KR" sz="1600" b="0">
                          <a:latin typeface="+mj-lt"/>
                        </a:rPr>
                        <a:t>Ready </a:t>
                      </a:r>
                      <a:r>
                        <a:rPr lang="ko-KR" altLang="en-US" sz="1600" b="0">
                          <a:latin typeface="+mj-lt"/>
                        </a:rPr>
                        <a:t>버튼 클릭 시 </a:t>
                      </a:r>
                      <a:r>
                        <a:rPr lang="en-US" altLang="ko-KR" sz="1600" b="0">
                          <a:latin typeface="+mj-lt"/>
                        </a:rPr>
                        <a:t>Protocol.READY</a:t>
                      </a:r>
                      <a:r>
                        <a:rPr lang="ko-KR" altLang="en-US" sz="1600" b="0">
                          <a:latin typeface="+mj-lt"/>
                        </a:rPr>
                        <a:t>를 서버로 전송합니다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134528"/>
                  </a:ext>
                </a:extLst>
              </a:tr>
              <a:tr h="58180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Room.java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2. </a:t>
                      </a:r>
                      <a:r>
                        <a:rPr lang="en-US" altLang="ko-KR" sz="1600" b="0" dirty="0" err="1">
                          <a:latin typeface="+mj-lt"/>
                        </a:rPr>
                        <a:t>onReady</a:t>
                      </a:r>
                      <a:r>
                        <a:rPr lang="en-US" altLang="ko-KR" sz="1600" b="0" dirty="0">
                          <a:latin typeface="+mj-lt"/>
                        </a:rPr>
                        <a:t>()</a:t>
                      </a:r>
                      <a:r>
                        <a:rPr lang="ko-KR" altLang="en-US" sz="1600" b="0" dirty="0">
                          <a:latin typeface="+mj-lt"/>
                        </a:rPr>
                        <a:t> 메서드가 호출되어 </a:t>
                      </a:r>
                      <a:r>
                        <a:rPr lang="en-US" altLang="ko-KR" sz="1600" b="0" dirty="0">
                          <a:latin typeface="+mj-lt"/>
                        </a:rPr>
                        <a:t>P1/P2</a:t>
                      </a:r>
                      <a:r>
                        <a:rPr lang="ko-KR" altLang="en-US" sz="1600" b="0" dirty="0">
                          <a:latin typeface="+mj-lt"/>
                        </a:rPr>
                        <a:t>의 </a:t>
                      </a:r>
                      <a:r>
                        <a:rPr lang="en-US" altLang="ko-KR" sz="1600" b="0" dirty="0">
                          <a:latin typeface="+mj-lt"/>
                        </a:rPr>
                        <a:t>p1Ready, p2Ready</a:t>
                      </a:r>
                      <a:r>
                        <a:rPr lang="ko-KR" altLang="en-US" sz="1600" b="0" dirty="0">
                          <a:latin typeface="+mj-lt"/>
                        </a:rPr>
                        <a:t> 상태를 업데이트합니다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660732"/>
                  </a:ext>
                </a:extLst>
              </a:tr>
              <a:tr h="58180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3. READY_STATE</a:t>
                      </a:r>
                      <a:r>
                        <a:rPr lang="ko-KR" altLang="en-US" sz="1600" b="0" dirty="0">
                          <a:latin typeface="+mj-lt"/>
                        </a:rPr>
                        <a:t>를 클라이언트들에게 방송합니다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106424"/>
                  </a:ext>
                </a:extLst>
              </a:tr>
              <a:tr h="581806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게임 시작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Room.java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4. P1, P2 </a:t>
                      </a:r>
                      <a:r>
                        <a:rPr lang="ko-KR" altLang="en-US" sz="1600" b="0" dirty="0">
                          <a:latin typeface="+mj-lt"/>
                        </a:rPr>
                        <a:t>모두 </a:t>
                      </a:r>
                      <a:r>
                        <a:rPr lang="en-US" altLang="ko-KR" sz="1600" b="0" dirty="0">
                          <a:latin typeface="+mj-lt"/>
                        </a:rPr>
                        <a:t>Ready </a:t>
                      </a:r>
                      <a:r>
                        <a:rPr lang="ko-KR" altLang="en-US" sz="1600" b="0" dirty="0">
                          <a:latin typeface="+mj-lt"/>
                        </a:rPr>
                        <a:t>시 </a:t>
                      </a:r>
                      <a:r>
                        <a:rPr lang="en-US" altLang="ko-KR" sz="1600" b="0" dirty="0" err="1">
                          <a:latin typeface="+mj-lt"/>
                        </a:rPr>
                        <a:t>startGame</a:t>
                      </a:r>
                      <a:r>
                        <a:rPr lang="en-US" altLang="ko-KR" sz="1600" b="0" dirty="0">
                          <a:latin typeface="+mj-lt"/>
                        </a:rPr>
                        <a:t>()</a:t>
                      </a:r>
                      <a:r>
                        <a:rPr lang="ko-KR" altLang="en-US" sz="1600" b="0" dirty="0">
                          <a:latin typeface="+mj-lt"/>
                        </a:rPr>
                        <a:t>을 호출합니다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874712"/>
                  </a:ext>
                </a:extLst>
              </a:tr>
              <a:tr h="58180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5. </a:t>
                      </a:r>
                      <a:r>
                        <a:rPr lang="ko-KR" altLang="en-US" sz="1600" b="0" dirty="0">
                          <a:latin typeface="+mj-lt"/>
                        </a:rPr>
                        <a:t>초기 총알 세팅</a:t>
                      </a:r>
                      <a:r>
                        <a:rPr lang="en-US" altLang="ko-KR" sz="1600" b="0" dirty="0">
                          <a:latin typeface="+mj-lt"/>
                        </a:rPr>
                        <a:t>, </a:t>
                      </a:r>
                      <a:r>
                        <a:rPr lang="ko-KR" altLang="en-US" sz="1600" b="0" dirty="0">
                          <a:latin typeface="+mj-lt"/>
                        </a:rPr>
                        <a:t>아이템 지급</a:t>
                      </a:r>
                      <a:r>
                        <a:rPr lang="en-US" altLang="ko-KR" sz="1600" b="0" dirty="0">
                          <a:latin typeface="+mj-lt"/>
                        </a:rPr>
                        <a:t>(</a:t>
                      </a:r>
                      <a:r>
                        <a:rPr lang="en-US" altLang="ko-KR" sz="1600" b="0" dirty="0" err="1">
                          <a:latin typeface="+mj-lt"/>
                        </a:rPr>
                        <a:t>giveItem</a:t>
                      </a:r>
                      <a:r>
                        <a:rPr lang="en-US" altLang="ko-KR" sz="1600" b="0" dirty="0">
                          <a:latin typeface="+mj-lt"/>
                        </a:rPr>
                        <a:t>) </a:t>
                      </a:r>
                      <a:r>
                        <a:rPr lang="ko-KR" altLang="en-US" sz="1600" b="0" dirty="0">
                          <a:latin typeface="+mj-lt"/>
                        </a:rPr>
                        <a:t>및 상태</a:t>
                      </a:r>
                      <a:r>
                        <a:rPr lang="en-US" altLang="ko-KR" sz="1600" b="0" dirty="0">
                          <a:latin typeface="+mj-lt"/>
                        </a:rPr>
                        <a:t>(</a:t>
                      </a:r>
                      <a:r>
                        <a:rPr lang="en-US" altLang="ko-KR" sz="1600" b="0" dirty="0" err="1">
                          <a:latin typeface="+mj-lt"/>
                        </a:rPr>
                        <a:t>bulletsLeft</a:t>
                      </a:r>
                      <a:r>
                        <a:rPr lang="en-US" altLang="ko-KR" sz="1600" b="0" dirty="0">
                          <a:latin typeface="+mj-lt"/>
                        </a:rPr>
                        <a:t>, p1Items, p2Items)</a:t>
                      </a:r>
                      <a:r>
                        <a:rPr lang="ko-KR" altLang="en-US" sz="1600" b="0" dirty="0">
                          <a:latin typeface="+mj-lt"/>
                        </a:rPr>
                        <a:t>를 설정합니다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81691"/>
                  </a:ext>
                </a:extLst>
              </a:tr>
              <a:tr h="58180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6. GAME_START</a:t>
                      </a:r>
                      <a:r>
                        <a:rPr lang="ko-KR" altLang="en-US" sz="1600" b="0" dirty="0">
                          <a:latin typeface="+mj-lt"/>
                        </a:rPr>
                        <a:t> 프로토콜을 통해 초기 게임 상태를 클라이언트에게 전달합니다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909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842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1B1F-3D59-DF21-37A6-4CD985C7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ED06F-FA1E-8DE9-BA02-3E483F7B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2. </a:t>
            </a:r>
            <a:r>
              <a:rPr lang="ko-KR" altLang="en-US" sz="2800" b="1" dirty="0"/>
              <a:t>소스파일</a:t>
            </a:r>
            <a:r>
              <a:rPr lang="en-US" altLang="ko-KR" sz="2800" b="1" dirty="0"/>
              <a:t>(.java)</a:t>
            </a:r>
            <a:r>
              <a:rPr lang="ko-KR" altLang="en-US" sz="2800" b="1" dirty="0"/>
              <a:t>의 실행 순서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8E6BBA2-AD2A-314B-AAF9-BDAE388B7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526"/>
            <a:ext cx="10515600" cy="50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2-3. </a:t>
            </a:r>
            <a:r>
              <a:rPr lang="ko-KR" altLang="en-US" sz="2000" b="1" dirty="0"/>
              <a:t>게임 시작 및 진행 </a:t>
            </a:r>
            <a:r>
              <a:rPr lang="en-US" altLang="ko-KR" sz="2000" b="1" dirty="0"/>
              <a:t>(Game Start and Gameplay)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B43C12E-F3A8-8135-EEB3-C42757306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762881"/>
              </p:ext>
            </p:extLst>
          </p:nvPr>
        </p:nvGraphicFramePr>
        <p:xfrm>
          <a:off x="838200" y="1618469"/>
          <a:ext cx="10515600" cy="5007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3525">
                  <a:extLst>
                    <a:ext uri="{9D8B030D-6E8A-4147-A177-3AD203B41FA5}">
                      <a16:colId xmlns:a16="http://schemas.microsoft.com/office/drawing/2014/main" val="1621301239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1400998708"/>
                    </a:ext>
                  </a:extLst>
                </a:gridCol>
                <a:gridCol w="5676900">
                  <a:extLst>
                    <a:ext uri="{9D8B030D-6E8A-4147-A177-3AD203B41FA5}">
                      <a16:colId xmlns:a16="http://schemas.microsoft.com/office/drawing/2014/main" val="3634885077"/>
                    </a:ext>
                  </a:extLst>
                </a:gridCol>
              </a:tblGrid>
              <a:tr h="6389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>
                          <a:latin typeface="+mj-lt"/>
                        </a:rPr>
                        <a:t>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주요 로직 및 프로토콜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019793"/>
                  </a:ext>
                </a:extLst>
              </a:tr>
              <a:tr h="63895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 err="1">
                          <a:latin typeface="+mj-lt"/>
                        </a:rPr>
                        <a:t>게임방</a:t>
                      </a:r>
                      <a:r>
                        <a:rPr lang="ko-KR" altLang="en-US" sz="1600" b="0" dirty="0">
                          <a:latin typeface="+mj-lt"/>
                        </a:rPr>
                        <a:t> 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RoomFrame.java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7. GAME_START</a:t>
                      </a:r>
                      <a:r>
                        <a:rPr lang="ko-KR" altLang="en-US" sz="1600" b="0" dirty="0">
                          <a:latin typeface="+mj-lt"/>
                        </a:rPr>
                        <a:t> 수신 후 </a:t>
                      </a:r>
                      <a:r>
                        <a:rPr lang="en-US" altLang="ko-KR" sz="1600" b="0" dirty="0" err="1">
                          <a:latin typeface="+mj-lt"/>
                        </a:rPr>
                        <a:t>GameRoomFrame</a:t>
                      </a:r>
                      <a:r>
                        <a:rPr lang="ko-KR" altLang="en-US" sz="1600" b="0" dirty="0">
                          <a:latin typeface="+mj-lt"/>
                        </a:rPr>
                        <a:t> 인스턴스를 생성하고 표시합니다</a:t>
                      </a:r>
                      <a:r>
                        <a:rPr lang="en-US" altLang="ko-KR" sz="1600" b="0" dirty="0">
                          <a:latin typeface="+mj-lt"/>
                        </a:rPr>
                        <a:t>. </a:t>
                      </a:r>
                      <a:r>
                        <a:rPr lang="ko-KR" altLang="en-US" sz="1600" b="0" dirty="0">
                          <a:latin typeface="+mj-lt"/>
                        </a:rPr>
                        <a:t>기존 </a:t>
                      </a:r>
                      <a:r>
                        <a:rPr lang="en-US" altLang="ko-KR" sz="1600" b="0" dirty="0" err="1">
                          <a:latin typeface="+mj-lt"/>
                        </a:rPr>
                        <a:t>RoomFrame</a:t>
                      </a:r>
                      <a:r>
                        <a:rPr lang="ko-KR" altLang="en-US" sz="1600" b="0" dirty="0">
                          <a:latin typeface="+mj-lt"/>
                        </a:rPr>
                        <a:t>은 종료됩니다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687045"/>
                  </a:ext>
                </a:extLst>
              </a:tr>
              <a:tr h="58180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GameRoomFrame.java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>
                          <a:latin typeface="+mj-lt"/>
                        </a:rPr>
                        <a:t>8. NetworkClient</a:t>
                      </a:r>
                      <a:r>
                        <a:rPr lang="ko-KR" altLang="en-US" sz="1600" b="0">
                          <a:latin typeface="+mj-lt"/>
                        </a:rPr>
                        <a:t>의 리스너를 자신의 </a:t>
                      </a:r>
                      <a:r>
                        <a:rPr lang="en-US" altLang="ko-KR" sz="1600" b="0">
                          <a:latin typeface="+mj-lt"/>
                        </a:rPr>
                        <a:t>getLineConsumer()</a:t>
                      </a:r>
                      <a:r>
                        <a:rPr lang="ko-KR" altLang="en-US" sz="1600" b="0">
                          <a:latin typeface="+mj-lt"/>
                        </a:rPr>
                        <a:t>로 교체하여 게임 메시지를 처리하도록 설정합니다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134528"/>
                  </a:ext>
                </a:extLst>
              </a:tr>
              <a:tr h="581806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+mj-lt"/>
                        </a:rPr>
                        <a:t>게임 진행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GameRoomFrame.java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9. </a:t>
                      </a:r>
                      <a:r>
                        <a:rPr lang="ko-KR" altLang="en-US" sz="1600" b="0" dirty="0">
                          <a:latin typeface="+mj-lt"/>
                        </a:rPr>
                        <a:t>조작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ko-KR" altLang="en-US" sz="1600" b="0" dirty="0">
                          <a:latin typeface="+mj-lt"/>
                        </a:rPr>
                        <a:t>키 바인딩을 통해 </a:t>
                      </a:r>
                      <a:r>
                        <a:rPr lang="en-US" altLang="ko-KR" sz="1600" b="0" dirty="0">
                          <a:latin typeface="+mj-lt"/>
                        </a:rPr>
                        <a:t>AIM</a:t>
                      </a:r>
                      <a:r>
                        <a:rPr lang="ko-KR" altLang="en-US" sz="1600" b="0" dirty="0">
                          <a:latin typeface="+mj-lt"/>
                        </a:rPr>
                        <a:t> </a:t>
                      </a:r>
                      <a:r>
                        <a:rPr lang="en-US" altLang="ko-KR" sz="1600" b="0" dirty="0">
                          <a:latin typeface="+mj-lt"/>
                        </a:rPr>
                        <a:t>(SELF/ENEMY) </a:t>
                      </a:r>
                      <a:r>
                        <a:rPr lang="ko-KR" altLang="en-US" sz="1600" b="0" dirty="0">
                          <a:latin typeface="+mj-lt"/>
                        </a:rPr>
                        <a:t>또는 </a:t>
                      </a:r>
                      <a:r>
                        <a:rPr lang="en-US" altLang="ko-KR" sz="1600" b="0" dirty="0">
                          <a:latin typeface="+mj-lt"/>
                        </a:rPr>
                        <a:t>FIRE</a:t>
                      </a:r>
                      <a:r>
                        <a:rPr lang="ko-KR" altLang="en-US" sz="1600" b="0" dirty="0">
                          <a:latin typeface="+mj-lt"/>
                        </a:rPr>
                        <a:t> 프로토콜을 서버로 전송합니다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660732"/>
                  </a:ext>
                </a:extLst>
              </a:tr>
              <a:tr h="58180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b="0" dirty="0">
                        <a:latin typeface="+mj-lt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10. </a:t>
                      </a:r>
                      <a:r>
                        <a:rPr lang="ko-KR" altLang="en-US" sz="1600" b="0" dirty="0">
                          <a:latin typeface="+mj-lt"/>
                        </a:rPr>
                        <a:t>아이템 사용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ko-KR" altLang="en-US" sz="1600" b="0" dirty="0">
                          <a:latin typeface="+mj-lt"/>
                        </a:rPr>
                        <a:t>숫자 키</a:t>
                      </a:r>
                      <a:r>
                        <a:rPr lang="en-US" altLang="ko-KR" sz="1600" b="0" dirty="0">
                          <a:latin typeface="+mj-lt"/>
                        </a:rPr>
                        <a:t>(1-6)</a:t>
                      </a:r>
                      <a:r>
                        <a:rPr lang="ko-KR" altLang="en-US" sz="1600" b="0" dirty="0">
                          <a:latin typeface="+mj-lt"/>
                        </a:rPr>
                        <a:t>를 눌러 </a:t>
                      </a:r>
                      <a:r>
                        <a:rPr lang="en-US" altLang="ko-KR" sz="1600" b="0" dirty="0">
                          <a:latin typeface="+mj-lt"/>
                        </a:rPr>
                        <a:t>USE_ITEM SLOT=X</a:t>
                      </a:r>
                      <a:r>
                        <a:rPr lang="ko-KR" altLang="en-US" sz="1600" b="0" dirty="0">
                          <a:latin typeface="+mj-lt"/>
                        </a:rPr>
                        <a:t> 프로토콜을 전송합니다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106424"/>
                  </a:ext>
                </a:extLst>
              </a:tr>
              <a:tr h="58180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b="0" dirty="0">
                        <a:latin typeface="+mj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Room.java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11. </a:t>
                      </a:r>
                      <a:r>
                        <a:rPr lang="ko-KR" altLang="en-US" sz="1600" b="0" dirty="0">
                          <a:latin typeface="+mj-lt"/>
                        </a:rPr>
                        <a:t>서버 처리</a:t>
                      </a:r>
                      <a:r>
                        <a:rPr lang="en-US" altLang="ko-KR" sz="1600" b="0" dirty="0">
                          <a:latin typeface="+mj-lt"/>
                        </a:rPr>
                        <a:t>: </a:t>
                      </a:r>
                      <a:r>
                        <a:rPr lang="en-US" altLang="ko-KR" sz="1600" b="0" dirty="0" err="1">
                          <a:latin typeface="+mj-lt"/>
                        </a:rPr>
                        <a:t>onAim</a:t>
                      </a:r>
                      <a:r>
                        <a:rPr lang="en-US" altLang="ko-KR" sz="1600" b="0" dirty="0">
                          <a:latin typeface="+mj-lt"/>
                        </a:rPr>
                        <a:t>(), </a:t>
                      </a:r>
                      <a:r>
                        <a:rPr lang="en-US" altLang="ko-KR" sz="1600" b="0" dirty="0" err="1">
                          <a:latin typeface="+mj-lt"/>
                        </a:rPr>
                        <a:t>onFire</a:t>
                      </a:r>
                      <a:r>
                        <a:rPr lang="en-US" altLang="ko-KR" sz="1600" b="0" dirty="0">
                          <a:latin typeface="+mj-lt"/>
                        </a:rPr>
                        <a:t>(), </a:t>
                      </a:r>
                      <a:r>
                        <a:rPr lang="en-US" altLang="ko-KR" sz="1600" b="0" dirty="0" err="1">
                          <a:latin typeface="+mj-lt"/>
                        </a:rPr>
                        <a:t>onUseItem</a:t>
                      </a:r>
                      <a:r>
                        <a:rPr lang="en-US" altLang="ko-KR" sz="1600" b="0" dirty="0">
                          <a:latin typeface="+mj-lt"/>
                        </a:rPr>
                        <a:t>()</a:t>
                      </a:r>
                      <a:r>
                        <a:rPr lang="ko-KR" altLang="en-US" sz="1600" b="0" dirty="0">
                          <a:latin typeface="+mj-lt"/>
                        </a:rPr>
                        <a:t> 메서드에서 턴 확인</a:t>
                      </a:r>
                      <a:r>
                        <a:rPr lang="en-US" altLang="ko-KR" sz="1600" b="0" dirty="0">
                          <a:latin typeface="+mj-lt"/>
                        </a:rPr>
                        <a:t>, </a:t>
                      </a:r>
                      <a:r>
                        <a:rPr lang="ko-KR" altLang="en-US" sz="1600" b="0" dirty="0">
                          <a:latin typeface="+mj-lt"/>
                        </a:rPr>
                        <a:t>조준 확인</a:t>
                      </a:r>
                      <a:r>
                        <a:rPr lang="en-US" altLang="ko-KR" sz="1600" b="0" dirty="0">
                          <a:latin typeface="+mj-lt"/>
                        </a:rPr>
                        <a:t>, </a:t>
                      </a:r>
                      <a:r>
                        <a:rPr lang="ko-KR" altLang="en-US" sz="1600" b="0" dirty="0">
                          <a:latin typeface="+mj-lt"/>
                        </a:rPr>
                        <a:t>탄창 처리</a:t>
                      </a:r>
                      <a:r>
                        <a:rPr lang="en-US" altLang="ko-KR" sz="1600" b="0" dirty="0">
                          <a:latin typeface="+mj-lt"/>
                        </a:rPr>
                        <a:t>, HP </a:t>
                      </a:r>
                      <a:r>
                        <a:rPr lang="ko-KR" altLang="en-US" sz="1600" b="0" dirty="0">
                          <a:latin typeface="+mj-lt"/>
                        </a:rPr>
                        <a:t>증감 로직을 수행합니다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874712"/>
                  </a:ext>
                </a:extLst>
              </a:tr>
              <a:tr h="58180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b="0" dirty="0">
                        <a:latin typeface="+mj-lt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12. </a:t>
                      </a:r>
                      <a:r>
                        <a:rPr lang="ko-KR" altLang="en-US" sz="1600" b="0" dirty="0">
                          <a:latin typeface="+mj-lt"/>
                        </a:rPr>
                        <a:t>결과 방송</a:t>
                      </a:r>
                      <a:r>
                        <a:rPr lang="en-US" altLang="ko-KR" sz="1600" b="0" dirty="0">
                          <a:latin typeface="+mj-lt"/>
                        </a:rPr>
                        <a:t>: FIRE_RESOLVE, ITEM_UPDATE, TURN</a:t>
                      </a:r>
                      <a:r>
                        <a:rPr lang="ko-KR" altLang="en-US" sz="1600" b="0" dirty="0">
                          <a:latin typeface="+mj-lt"/>
                        </a:rPr>
                        <a:t> 등의 프로토콜을 클라이언트에게 방송하여 화면 업데이트를 유도합니다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81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>
                          <a:latin typeface="+mj-lt"/>
                        </a:rPr>
                        <a:t>게임 종료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+mj-lt"/>
                        </a:rPr>
                        <a:t>Room.java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+mj-lt"/>
                        </a:rPr>
                        <a:t>13. HP</a:t>
                      </a:r>
                      <a:r>
                        <a:rPr lang="ko-KR" altLang="en-US" sz="1600" b="0" dirty="0">
                          <a:latin typeface="+mj-lt"/>
                        </a:rPr>
                        <a:t>가 </a:t>
                      </a:r>
                      <a:r>
                        <a:rPr lang="en-US" altLang="ko-KR" sz="1600" b="0" dirty="0">
                          <a:latin typeface="+mj-lt"/>
                        </a:rPr>
                        <a:t>0 </a:t>
                      </a:r>
                      <a:r>
                        <a:rPr lang="ko-KR" altLang="en-US" sz="1600" b="0" dirty="0">
                          <a:latin typeface="+mj-lt"/>
                        </a:rPr>
                        <a:t>이하가 되면 </a:t>
                      </a:r>
                      <a:r>
                        <a:rPr lang="en-US" altLang="ko-KR" sz="1600" b="0" dirty="0">
                          <a:latin typeface="+mj-lt"/>
                        </a:rPr>
                        <a:t>GAME_OVER</a:t>
                      </a:r>
                      <a:r>
                        <a:rPr lang="ko-KR" altLang="en-US" sz="1600" b="0" dirty="0">
                          <a:latin typeface="+mj-lt"/>
                        </a:rPr>
                        <a:t> 프로토콜을 방송합니다</a:t>
                      </a:r>
                      <a:r>
                        <a:rPr lang="en-US" altLang="ko-KR" sz="1600" b="0" dirty="0">
                          <a:latin typeface="+mj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909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9932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BC06E-A739-2EF5-B5A0-CDBDB65B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54625C-1DE3-FAA2-CDFB-4A9ED8FDC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691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BEFE8-DA3E-AACB-D97B-2BF25DC8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 err="1"/>
              <a:t>깃허브</a:t>
            </a:r>
            <a:r>
              <a:rPr lang="ko-KR" altLang="en-US" dirty="0"/>
              <a:t> 링크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A62F54-E6A5-9B06-D776-D54468CF4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https://github.com/Bigben2002/Russian-Roulette-Project.git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1918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1AD95-0F8C-ADBA-0560-31695A11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기여도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F6A0B7-CE46-0123-4572-086000B39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2171073 </a:t>
            </a:r>
            <a:r>
              <a:rPr lang="ko-KR" altLang="ko-KR" dirty="0" err="1"/>
              <a:t>이경석</a:t>
            </a:r>
            <a:r>
              <a:rPr lang="en-US" altLang="ko-KR" dirty="0"/>
              <a:t> 50%</a:t>
            </a:r>
          </a:p>
          <a:p>
            <a:r>
              <a:rPr lang="en-US" altLang="ko-KR" dirty="0"/>
              <a:t>2171062 </a:t>
            </a:r>
            <a:r>
              <a:rPr lang="ko-KR" altLang="ko-KR" dirty="0"/>
              <a:t>김준현</a:t>
            </a:r>
            <a:r>
              <a:rPr lang="en-US" altLang="ko-KR" dirty="0"/>
              <a:t> 50%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9007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1133</Words>
  <Application>Microsoft Office PowerPoint</Application>
  <PresentationFormat>와이드스크린</PresentationFormat>
  <Paragraphs>140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프로젝트 제안서</vt:lpstr>
      <vt:lpstr>1. 프로젝트 개요</vt:lpstr>
      <vt:lpstr>2. 기능 설명</vt:lpstr>
      <vt:lpstr>최종 보고서</vt:lpstr>
      <vt:lpstr>1. 소스파일(.java) 목록</vt:lpstr>
      <vt:lpstr>2. 소스파일(.java)의 실행 순서</vt:lpstr>
      <vt:lpstr>2. 소스파일(.java)의 실행 순서</vt:lpstr>
      <vt:lpstr>2. 소스파일(.java)의 실행 순서</vt:lpstr>
      <vt:lpstr>2. 소스파일(.java)의 실행 순서</vt:lpstr>
      <vt:lpstr>2. 소스파일(.java)의 실행 순서</vt:lpstr>
      <vt:lpstr>2. 실행 순서</vt:lpstr>
      <vt:lpstr>4. 깃허브 링크</vt:lpstr>
      <vt:lpstr>5. 기여도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김준현</dc:creator>
  <cp:lastModifiedBy>김준현</cp:lastModifiedBy>
  <cp:revision>37</cp:revision>
  <dcterms:created xsi:type="dcterms:W3CDTF">2025-10-29T04:39:44Z</dcterms:created>
  <dcterms:modified xsi:type="dcterms:W3CDTF">2025-11-26T05:37:30Z</dcterms:modified>
</cp:coreProperties>
</file>