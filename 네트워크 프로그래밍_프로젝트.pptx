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6" r:id="rId9"/>
    <p:sldId id="267" r:id="rId10"/>
    <p:sldId id="268" r:id="rId11"/>
    <p:sldId id="270" r:id="rId12"/>
    <p:sldId id="269" r:id="rId13"/>
    <p:sldId id="262" r:id="rId14"/>
    <p:sldId id="263" r:id="rId15"/>
    <p:sldId id="265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말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2025-12-01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3895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296967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.png"  /><Relationship Id="rId4" Type="http://schemas.openxmlformats.org/officeDocument/2006/relationships/image" Target="../media/image2.svg"  /><Relationship Id="rId5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Relationship Id="rId4" Type="http://schemas.openxmlformats.org/officeDocument/2006/relationships/image" Target="../media/image4.png"  /><Relationship Id="rId5" Type="http://schemas.openxmlformats.org/officeDocument/2006/relationships/image" Target="../media/image5.sv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Relationship Id="rId4" Type="http://schemas.openxmlformats.org/officeDocument/2006/relationships/image" Target="../media/image6.png"  /><Relationship Id="rId5" Type="http://schemas.openxmlformats.org/officeDocument/2006/relationships/image" Target="../media/image7.sv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8.png"  /><Relationship Id="rId3" Type="http://schemas.openxmlformats.org/officeDocument/2006/relationships/image" Target="../media/image9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Relationship Id="rId4" Type="http://schemas.openxmlformats.org/officeDocument/2006/relationships/image" Target="../media/image10.png"  /><Relationship Id="rId5" Type="http://schemas.openxmlformats.org/officeDocument/2006/relationships/image" Target="../media/image11.sv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2.svg"  /><Relationship Id="rId4" Type="http://schemas.openxmlformats.org/officeDocument/2006/relationships/image" Target="../media/image12.png"  /><Relationship Id="rId5" Type="http://schemas.openxmlformats.org/officeDocument/2006/relationships/image" Target="../media/image13.sv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103595" y="2593300"/>
            <a:ext cx="10012205" cy="483620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12697"/>
              </a:lnSpc>
              <a:defRPr/>
            </a:pPr>
            <a:r>
              <a:rPr lang="en-US" sz="850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Russian</a:t>
            </a:r>
            <a:r>
              <a:rPr lang="ko-KR" altLang="en-US" sz="850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 </a:t>
            </a:r>
            <a:r>
              <a:rPr lang="en-US" altLang="ko-KR" sz="850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-</a:t>
            </a:r>
            <a:r>
              <a:rPr lang="en-US" sz="850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Roulette</a:t>
            </a:r>
            <a:endParaRPr lang="en-US" sz="8500">
              <a:solidFill>
                <a:srgbClr val="000000"/>
              </a:solidFill>
              <a:latin typeface="TDTD강굴림"/>
              <a:ea typeface="TDTD강굴림"/>
              <a:cs typeface="TDTD강굴림"/>
              <a:sym typeface="TDTD강굴림"/>
            </a:endParaRPr>
          </a:p>
          <a:p>
            <a:pPr lvl="0" algn="l">
              <a:lnSpc>
                <a:spcPts val="12697"/>
              </a:lnSpc>
              <a:defRPr/>
            </a:pPr>
            <a:r>
              <a:rPr lang="ko-KR" altLang="en-US" sz="700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네트워크 프로그래밍</a:t>
            </a:r>
            <a:endParaRPr lang="ko-KR" altLang="en-US" sz="7000">
              <a:solidFill>
                <a:srgbClr val="000000"/>
              </a:solidFill>
              <a:latin typeface="TDTD강굴림"/>
              <a:ea typeface="TDTD강굴림"/>
              <a:cs typeface="TDTD강굴림"/>
              <a:sym typeface="TDTD강굴림"/>
            </a:endParaRPr>
          </a:p>
          <a:p>
            <a:pPr lvl="0" algn="l">
              <a:lnSpc>
                <a:spcPts val="12697"/>
              </a:lnSpc>
              <a:spcBef>
                <a:spcPct val="0"/>
              </a:spcBef>
              <a:defRPr/>
            </a:pPr>
            <a:endParaRPr lang="en-US" sz="7000">
              <a:solidFill>
                <a:srgbClr val="000000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209800" y="7263692"/>
            <a:ext cx="6210003" cy="8516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2799"/>
              <a:t>2171073 </a:t>
            </a:r>
            <a:r>
              <a:rPr lang="ko-KR" altLang="ko-KR" sz="2799"/>
              <a:t>이경석</a:t>
            </a:r>
            <a:endParaRPr lang="ko-KR" altLang="ko-KR" sz="2799"/>
          </a:p>
          <a:p>
            <a:pPr lvl="0">
              <a:defRPr/>
            </a:pPr>
            <a:r>
              <a:rPr lang="en-US" altLang="ko-KR" sz="2799"/>
              <a:t>2171062 </a:t>
            </a:r>
            <a:r>
              <a:rPr lang="ko-KR" altLang="ko-KR" sz="2799"/>
              <a:t>김준현</a:t>
            </a:r>
            <a:endParaRPr lang="ko-KR" altLang="ko-KR" sz="2799"/>
          </a:p>
        </p:txBody>
      </p:sp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287799" y="4610100"/>
            <a:ext cx="9162002" cy="49961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618588" y="4642970"/>
            <a:ext cx="5090436" cy="887178"/>
            <a:chOff x="0" y="0"/>
            <a:chExt cx="1340691" cy="2336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65398" y="0"/>
                  </a:moveTo>
                  <a:lnTo>
                    <a:pt x="1275293" y="0"/>
                  </a:lnTo>
                  <a:cubicBezTo>
                    <a:pt x="1311412" y="0"/>
                    <a:pt x="1340691" y="29280"/>
                    <a:pt x="1340691" y="65398"/>
                  </a:cubicBezTo>
                  <a:lnTo>
                    <a:pt x="1340691" y="168262"/>
                  </a:lnTo>
                  <a:cubicBezTo>
                    <a:pt x="1340691" y="185607"/>
                    <a:pt x="1333801" y="202241"/>
                    <a:pt x="1321536" y="214506"/>
                  </a:cubicBezTo>
                  <a:cubicBezTo>
                    <a:pt x="1309272" y="226770"/>
                    <a:pt x="1292638" y="233660"/>
                    <a:pt x="1275293" y="233660"/>
                  </a:cubicBezTo>
                  <a:lnTo>
                    <a:pt x="65398" y="233660"/>
                  </a:lnTo>
                  <a:cubicBezTo>
                    <a:pt x="29280" y="233660"/>
                    <a:pt x="0" y="204381"/>
                    <a:pt x="0" y="168262"/>
                  </a:cubicBezTo>
                  <a:lnTo>
                    <a:pt x="0" y="65398"/>
                  </a:lnTo>
                  <a:cubicBezTo>
                    <a:pt x="0" y="48053"/>
                    <a:pt x="6890" y="31419"/>
                    <a:pt x="19155" y="19155"/>
                  </a:cubicBezTo>
                  <a:cubicBezTo>
                    <a:pt x="31419" y="6890"/>
                    <a:pt x="48053" y="0"/>
                    <a:pt x="6539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78976" y="4644226"/>
            <a:ext cx="5090436" cy="887178"/>
            <a:chOff x="0" y="0"/>
            <a:chExt cx="1340691" cy="2336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65398" y="0"/>
                  </a:moveTo>
                  <a:lnTo>
                    <a:pt x="1275293" y="0"/>
                  </a:lnTo>
                  <a:cubicBezTo>
                    <a:pt x="1311412" y="0"/>
                    <a:pt x="1340691" y="29280"/>
                    <a:pt x="1340691" y="65398"/>
                  </a:cubicBezTo>
                  <a:lnTo>
                    <a:pt x="1340691" y="168262"/>
                  </a:lnTo>
                  <a:cubicBezTo>
                    <a:pt x="1340691" y="185607"/>
                    <a:pt x="1333801" y="202241"/>
                    <a:pt x="1321536" y="214506"/>
                  </a:cubicBezTo>
                  <a:cubicBezTo>
                    <a:pt x="1309272" y="226770"/>
                    <a:pt x="1292638" y="233660"/>
                    <a:pt x="1275293" y="233660"/>
                  </a:cubicBezTo>
                  <a:lnTo>
                    <a:pt x="65398" y="233660"/>
                  </a:lnTo>
                  <a:cubicBezTo>
                    <a:pt x="29280" y="233660"/>
                    <a:pt x="0" y="204381"/>
                    <a:pt x="0" y="168262"/>
                  </a:cubicBezTo>
                  <a:lnTo>
                    <a:pt x="0" y="65398"/>
                  </a:lnTo>
                  <a:cubicBezTo>
                    <a:pt x="0" y="48053"/>
                    <a:pt x="6890" y="31419"/>
                    <a:pt x="19155" y="19155"/>
                  </a:cubicBezTo>
                  <a:cubicBezTo>
                    <a:pt x="31419" y="6890"/>
                    <a:pt x="48053" y="0"/>
                    <a:pt x="6539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618588" y="5837460"/>
            <a:ext cx="5090436" cy="887178"/>
            <a:chOff x="0" y="0"/>
            <a:chExt cx="1340691" cy="2336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65398" y="0"/>
                  </a:moveTo>
                  <a:lnTo>
                    <a:pt x="1275293" y="0"/>
                  </a:lnTo>
                  <a:cubicBezTo>
                    <a:pt x="1311412" y="0"/>
                    <a:pt x="1340691" y="29280"/>
                    <a:pt x="1340691" y="65398"/>
                  </a:cubicBezTo>
                  <a:lnTo>
                    <a:pt x="1340691" y="168262"/>
                  </a:lnTo>
                  <a:cubicBezTo>
                    <a:pt x="1340691" y="185607"/>
                    <a:pt x="1333801" y="202241"/>
                    <a:pt x="1321536" y="214506"/>
                  </a:cubicBezTo>
                  <a:cubicBezTo>
                    <a:pt x="1309272" y="226770"/>
                    <a:pt x="1292638" y="233660"/>
                    <a:pt x="1275293" y="233660"/>
                  </a:cubicBezTo>
                  <a:lnTo>
                    <a:pt x="65398" y="233660"/>
                  </a:lnTo>
                  <a:cubicBezTo>
                    <a:pt x="29280" y="233660"/>
                    <a:pt x="0" y="204381"/>
                    <a:pt x="0" y="168262"/>
                  </a:cubicBezTo>
                  <a:lnTo>
                    <a:pt x="0" y="65398"/>
                  </a:lnTo>
                  <a:cubicBezTo>
                    <a:pt x="0" y="48053"/>
                    <a:pt x="6890" y="31419"/>
                    <a:pt x="19155" y="19155"/>
                  </a:cubicBezTo>
                  <a:cubicBezTo>
                    <a:pt x="31419" y="6890"/>
                    <a:pt x="48053" y="0"/>
                    <a:pt x="6539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78976" y="5838717"/>
            <a:ext cx="5090436" cy="887178"/>
            <a:chOff x="0" y="0"/>
            <a:chExt cx="1340691" cy="2336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65398" y="0"/>
                  </a:moveTo>
                  <a:lnTo>
                    <a:pt x="1275293" y="0"/>
                  </a:lnTo>
                  <a:cubicBezTo>
                    <a:pt x="1311412" y="0"/>
                    <a:pt x="1340691" y="29280"/>
                    <a:pt x="1340691" y="65398"/>
                  </a:cubicBezTo>
                  <a:lnTo>
                    <a:pt x="1340691" y="168262"/>
                  </a:lnTo>
                  <a:cubicBezTo>
                    <a:pt x="1340691" y="185607"/>
                    <a:pt x="1333801" y="202241"/>
                    <a:pt x="1321536" y="214506"/>
                  </a:cubicBezTo>
                  <a:cubicBezTo>
                    <a:pt x="1309272" y="226770"/>
                    <a:pt x="1292638" y="233660"/>
                    <a:pt x="1275293" y="233660"/>
                  </a:cubicBezTo>
                  <a:lnTo>
                    <a:pt x="65398" y="233660"/>
                  </a:lnTo>
                  <a:cubicBezTo>
                    <a:pt x="29280" y="233660"/>
                    <a:pt x="0" y="204381"/>
                    <a:pt x="0" y="168262"/>
                  </a:cubicBezTo>
                  <a:lnTo>
                    <a:pt x="0" y="65398"/>
                  </a:lnTo>
                  <a:cubicBezTo>
                    <a:pt x="0" y="48053"/>
                    <a:pt x="6890" y="31419"/>
                    <a:pt x="19155" y="19155"/>
                  </a:cubicBezTo>
                  <a:cubicBezTo>
                    <a:pt x="31419" y="6890"/>
                    <a:pt x="48053" y="0"/>
                    <a:pt x="6539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618588" y="7029439"/>
            <a:ext cx="5090436" cy="887178"/>
            <a:chOff x="0" y="0"/>
            <a:chExt cx="1340691" cy="2336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65398" y="0"/>
                  </a:moveTo>
                  <a:lnTo>
                    <a:pt x="1275293" y="0"/>
                  </a:lnTo>
                  <a:cubicBezTo>
                    <a:pt x="1311412" y="0"/>
                    <a:pt x="1340691" y="29280"/>
                    <a:pt x="1340691" y="65398"/>
                  </a:cubicBezTo>
                  <a:lnTo>
                    <a:pt x="1340691" y="168262"/>
                  </a:lnTo>
                  <a:cubicBezTo>
                    <a:pt x="1340691" y="185607"/>
                    <a:pt x="1333801" y="202241"/>
                    <a:pt x="1321536" y="214506"/>
                  </a:cubicBezTo>
                  <a:cubicBezTo>
                    <a:pt x="1309272" y="226770"/>
                    <a:pt x="1292638" y="233660"/>
                    <a:pt x="1275293" y="233660"/>
                  </a:cubicBezTo>
                  <a:lnTo>
                    <a:pt x="65398" y="233660"/>
                  </a:lnTo>
                  <a:cubicBezTo>
                    <a:pt x="29280" y="233660"/>
                    <a:pt x="0" y="204381"/>
                    <a:pt x="0" y="168262"/>
                  </a:cubicBezTo>
                  <a:lnTo>
                    <a:pt x="0" y="65398"/>
                  </a:lnTo>
                  <a:cubicBezTo>
                    <a:pt x="0" y="48053"/>
                    <a:pt x="6890" y="31419"/>
                    <a:pt x="19155" y="19155"/>
                  </a:cubicBezTo>
                  <a:cubicBezTo>
                    <a:pt x="31419" y="6890"/>
                    <a:pt x="48053" y="0"/>
                    <a:pt x="6539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78976" y="7030695"/>
            <a:ext cx="5090436" cy="887178"/>
            <a:chOff x="0" y="0"/>
            <a:chExt cx="1340691" cy="2336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0691" cy="233660"/>
            </a:xfrm>
            <a:custGeom>
              <a:avLst/>
              <a:gdLst/>
              <a:ahLst/>
              <a:cxnLst/>
              <a:rect r="r" b="b" t="t" l="l"/>
              <a:pathLst>
                <a:path h="233660" w="1340691">
                  <a:moveTo>
                    <a:pt x="65398" y="0"/>
                  </a:moveTo>
                  <a:lnTo>
                    <a:pt x="1275293" y="0"/>
                  </a:lnTo>
                  <a:cubicBezTo>
                    <a:pt x="1311412" y="0"/>
                    <a:pt x="1340691" y="29280"/>
                    <a:pt x="1340691" y="65398"/>
                  </a:cubicBezTo>
                  <a:lnTo>
                    <a:pt x="1340691" y="168262"/>
                  </a:lnTo>
                  <a:cubicBezTo>
                    <a:pt x="1340691" y="185607"/>
                    <a:pt x="1333801" y="202241"/>
                    <a:pt x="1321536" y="214506"/>
                  </a:cubicBezTo>
                  <a:cubicBezTo>
                    <a:pt x="1309272" y="226770"/>
                    <a:pt x="1292638" y="233660"/>
                    <a:pt x="1275293" y="233660"/>
                  </a:cubicBezTo>
                  <a:lnTo>
                    <a:pt x="65398" y="233660"/>
                  </a:lnTo>
                  <a:cubicBezTo>
                    <a:pt x="29280" y="233660"/>
                    <a:pt x="0" y="204381"/>
                    <a:pt x="0" y="168262"/>
                  </a:cubicBezTo>
                  <a:lnTo>
                    <a:pt x="0" y="65398"/>
                  </a:lnTo>
                  <a:cubicBezTo>
                    <a:pt x="0" y="48053"/>
                    <a:pt x="6890" y="31419"/>
                    <a:pt x="19155" y="19155"/>
                  </a:cubicBezTo>
                  <a:cubicBezTo>
                    <a:pt x="31419" y="6890"/>
                    <a:pt x="48053" y="0"/>
                    <a:pt x="6539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618588" y="4647298"/>
            <a:ext cx="1017371" cy="887178"/>
            <a:chOff x="0" y="0"/>
            <a:chExt cx="267949" cy="2336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78976" y="4642970"/>
            <a:ext cx="1017371" cy="887178"/>
            <a:chOff x="0" y="0"/>
            <a:chExt cx="267949" cy="2336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578976" y="5838717"/>
            <a:ext cx="1017371" cy="887178"/>
            <a:chOff x="0" y="0"/>
            <a:chExt cx="267949" cy="2336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578976" y="7030695"/>
            <a:ext cx="1017371" cy="887178"/>
            <a:chOff x="0" y="0"/>
            <a:chExt cx="267949" cy="2336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618588" y="5838717"/>
            <a:ext cx="1017371" cy="887178"/>
            <a:chOff x="0" y="0"/>
            <a:chExt cx="267949" cy="2336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618588" y="7030695"/>
            <a:ext cx="1017371" cy="887178"/>
            <a:chOff x="0" y="0"/>
            <a:chExt cx="267949" cy="2336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5168147" y="4768995"/>
            <a:ext cx="3245306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팀원 소개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128535" y="4770251"/>
            <a:ext cx="3498683" cy="53517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2799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소스 파일 목록</a:t>
            </a:r>
            <a:endParaRPr lang="ko-KR" altLang="en-US" sz="2799">
              <a:solidFill>
                <a:srgbClr val="ffffff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name="TextBox 48" id="48"/>
          <p:cNvSpPr txBox="true"/>
          <p:nvPr/>
        </p:nvSpPr>
        <p:spPr>
          <a:xfrm rot="0">
            <a:off x="5168147" y="5963486"/>
            <a:ext cx="3245306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3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프로젝트 소개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28535" y="5964742"/>
            <a:ext cx="3498683" cy="5408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2799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프로젝트 </a:t>
            </a:r>
            <a:r>
              <a:rPr lang="en-US" altLang="ko-KR" sz="2799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Flow</a:t>
            </a:r>
            <a:endParaRPr lang="en-US" altLang="ko-KR" sz="2799">
              <a:solidFill>
                <a:srgbClr val="ffffff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5168147" y="7155464"/>
            <a:ext cx="3245305" cy="54073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2799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기능 설명</a:t>
            </a:r>
            <a:endParaRPr lang="ko-KR" altLang="en-US" sz="2799">
              <a:solidFill>
                <a:srgbClr val="ffffff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128535" y="7156720"/>
            <a:ext cx="3498683" cy="53948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2799">
                <a:solidFill>
                  <a:srgbClr val="ffffff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깃허브 링크 및 기여도</a:t>
            </a:r>
            <a:endParaRPr lang="ko-KR" altLang="en-US" sz="2799">
              <a:solidFill>
                <a:srgbClr val="ffffff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name="TextBox 52" id="52"/>
          <p:cNvSpPr txBox="true"/>
          <p:nvPr/>
        </p:nvSpPr>
        <p:spPr>
          <a:xfrm rot="0">
            <a:off x="3860244" y="4768995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01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820632" y="4768995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3860244" y="5963486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820632" y="5963486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05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860244" y="7155464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03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20632" y="7155464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567886" y="2202332"/>
            <a:ext cx="7152228" cy="131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7"/>
              </a:lnSpc>
              <a:spcBef>
                <a:spcPct val="0"/>
              </a:spcBef>
            </a:pPr>
            <a:r>
              <a:rPr lang="en-US" sz="7669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발표순서</a:t>
            </a:r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2785309" y="5143500"/>
            <a:ext cx="3541279" cy="765334"/>
            <a:chOff x="0" y="0"/>
            <a:chExt cx="932683" cy="2015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32683" cy="201570"/>
            </a:xfrm>
            <a:custGeom>
              <a:avLst/>
              <a:gdLst/>
              <a:rect l="l" t="t" r="r" b="b"/>
              <a:pathLst>
                <a:path w="932683" h="201570">
                  <a:moveTo>
                    <a:pt x="94006" y="0"/>
                  </a:moveTo>
                  <a:lnTo>
                    <a:pt x="838676" y="0"/>
                  </a:lnTo>
                  <a:cubicBezTo>
                    <a:pt x="863608" y="0"/>
                    <a:pt x="887519" y="9904"/>
                    <a:pt x="905149" y="27534"/>
                  </a:cubicBezTo>
                  <a:cubicBezTo>
                    <a:pt x="922778" y="45163"/>
                    <a:pt x="932683" y="69074"/>
                    <a:pt x="932683" y="94006"/>
                  </a:cubicBezTo>
                  <a:lnTo>
                    <a:pt x="932683" y="107563"/>
                  </a:lnTo>
                  <a:cubicBezTo>
                    <a:pt x="932683" y="132495"/>
                    <a:pt x="922778" y="156406"/>
                    <a:pt x="905149" y="174036"/>
                  </a:cubicBezTo>
                  <a:cubicBezTo>
                    <a:pt x="887519" y="191665"/>
                    <a:pt x="863608" y="201570"/>
                    <a:pt x="838676" y="201570"/>
                  </a:cubicBezTo>
                  <a:lnTo>
                    <a:pt x="94006" y="201570"/>
                  </a:lnTo>
                  <a:cubicBezTo>
                    <a:pt x="69074" y="201570"/>
                    <a:pt x="45163" y="191665"/>
                    <a:pt x="27534" y="174036"/>
                  </a:cubicBezTo>
                  <a:cubicBezTo>
                    <a:pt x="9904" y="156406"/>
                    <a:pt x="0" y="132495"/>
                    <a:pt x="0" y="107563"/>
                  </a:cubicBezTo>
                  <a:lnTo>
                    <a:pt x="0" y="94006"/>
                  </a:lnTo>
                  <a:cubicBezTo>
                    <a:pt x="0" y="69074"/>
                    <a:pt x="9904" y="45163"/>
                    <a:pt x="27534" y="27534"/>
                  </a:cubicBezTo>
                  <a:cubicBezTo>
                    <a:pt x="45163" y="9904"/>
                    <a:pt x="69074" y="0"/>
                    <a:pt x="94006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932683" cy="249195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 rot="0">
            <a:off x="11961411" y="5402874"/>
            <a:ext cx="3541279" cy="765334"/>
            <a:chOff x="0" y="0"/>
            <a:chExt cx="932683" cy="20157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32683" cy="201570"/>
            </a:xfrm>
            <a:custGeom>
              <a:avLst/>
              <a:gdLst/>
              <a:rect l="l" t="t" r="r" b="b"/>
              <a:pathLst>
                <a:path w="932683" h="201570">
                  <a:moveTo>
                    <a:pt x="94006" y="0"/>
                  </a:moveTo>
                  <a:lnTo>
                    <a:pt x="838676" y="0"/>
                  </a:lnTo>
                  <a:cubicBezTo>
                    <a:pt x="863608" y="0"/>
                    <a:pt x="887519" y="9904"/>
                    <a:pt x="905149" y="27534"/>
                  </a:cubicBezTo>
                  <a:cubicBezTo>
                    <a:pt x="922778" y="45163"/>
                    <a:pt x="932683" y="69074"/>
                    <a:pt x="932683" y="94006"/>
                  </a:cubicBezTo>
                  <a:lnTo>
                    <a:pt x="932683" y="107563"/>
                  </a:lnTo>
                  <a:cubicBezTo>
                    <a:pt x="932683" y="132495"/>
                    <a:pt x="922778" y="156406"/>
                    <a:pt x="905149" y="174036"/>
                  </a:cubicBezTo>
                  <a:cubicBezTo>
                    <a:pt x="887519" y="191665"/>
                    <a:pt x="863608" y="201570"/>
                    <a:pt x="838676" y="201570"/>
                  </a:cubicBezTo>
                  <a:lnTo>
                    <a:pt x="94006" y="201570"/>
                  </a:lnTo>
                  <a:cubicBezTo>
                    <a:pt x="69074" y="201570"/>
                    <a:pt x="45163" y="191665"/>
                    <a:pt x="27534" y="174036"/>
                  </a:cubicBezTo>
                  <a:cubicBezTo>
                    <a:pt x="9904" y="156406"/>
                    <a:pt x="0" y="132495"/>
                    <a:pt x="0" y="107563"/>
                  </a:cubicBezTo>
                  <a:lnTo>
                    <a:pt x="0" y="94006"/>
                  </a:lnTo>
                  <a:cubicBezTo>
                    <a:pt x="0" y="69074"/>
                    <a:pt x="9904" y="45163"/>
                    <a:pt x="27534" y="27534"/>
                  </a:cubicBezTo>
                  <a:cubicBezTo>
                    <a:pt x="45163" y="9904"/>
                    <a:pt x="69074" y="0"/>
                    <a:pt x="94006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932683" cy="249195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6815748" y="4241072"/>
            <a:ext cx="4656503" cy="3987660"/>
          </a:xfrm>
          <a:custGeom>
            <a:avLst/>
            <a:gdLst/>
            <a:ahLst/>
            <a:cxnLst/>
            <a:rect r="r" b="b" t="t" l="l"/>
            <a:pathLst>
              <a:path h="3987660" w="4656503">
                <a:moveTo>
                  <a:pt x="0" y="0"/>
                </a:moveTo>
                <a:lnTo>
                  <a:pt x="4656504" y="0"/>
                </a:lnTo>
                <a:lnTo>
                  <a:pt x="4656504" y="3987660"/>
                </a:lnTo>
                <a:lnTo>
                  <a:pt x="0" y="398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5567886" y="2202332"/>
            <a:ext cx="7152228" cy="131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37"/>
              </a:lnSpc>
              <a:spcBef>
                <a:spcPct val="0"/>
              </a:spcBef>
            </a:pPr>
            <a:r>
              <a:rPr lang="en-US" sz="7669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팀원소개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99966" y="5168217"/>
            <a:ext cx="1894835" cy="6325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5049"/>
              </a:lnSpc>
              <a:spcBef>
                <a:spcPct val="0"/>
              </a:spcBef>
              <a:defRPr/>
            </a:pPr>
            <a:r>
              <a:rPr lang="ko-KR" altLang="en-US" sz="3300" b="1" u="none" strike="noStrike" spc="686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이경석</a:t>
            </a:r>
            <a:endParaRPr lang="ko-KR" altLang="en-US" sz="3300" b="1" u="none" strike="noStrike" spc="686">
              <a:solidFill>
                <a:srgbClr val="ffffff"/>
              </a:solidFill>
              <a:latin typeface="Nanum Square Round Bold"/>
              <a:ea typeface="Nanum Square Round Bold"/>
              <a:cs typeface="Nanum Square Round Bold"/>
              <a:sym typeface="Nanum Square Round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313074" y="4155347"/>
            <a:ext cx="1894835" cy="61417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just">
              <a:lnSpc>
                <a:spcPts val="5049"/>
              </a:lnSpc>
              <a:spcBef>
                <a:spcPct val="0"/>
              </a:spcBef>
              <a:defRPr/>
            </a:pPr>
            <a:r>
              <a:rPr lang="en-US" sz="3300" b="1" spc="686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김수</a:t>
            </a:r>
            <a:endParaRPr lang="en-US" sz="3300" b="1" spc="686">
              <a:solidFill>
                <a:srgbClr val="ffffff"/>
              </a:solidFill>
              <a:latin typeface="Nanum Square Round Bold"/>
              <a:ea typeface="Nanum Square Round Bold"/>
              <a:cs typeface="Nanum Square Round Bold"/>
              <a:sym typeface="Nanum Square Round Bold"/>
            </a:endParaRPr>
          </a:p>
        </p:txBody>
      </p:sp>
      <p:sp>
        <p:nvSpPr>
          <p:cNvPr name="TextBox 34" id="34"/>
          <p:cNvSpPr txBox="true"/>
          <p:nvPr/>
        </p:nvSpPr>
        <p:spPr>
          <a:xfrm rot="0">
            <a:off x="14313074" y="6764572"/>
            <a:ext cx="1894835" cy="614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049"/>
              </a:lnSpc>
              <a:spcBef>
                <a:spcPct val="0"/>
              </a:spcBef>
            </a:pPr>
            <a:r>
              <a:rPr lang="en-US" b="true" sz="3300" spc="686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김철민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076068" y="5427592"/>
            <a:ext cx="1894835" cy="63030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r">
              <a:lnSpc>
                <a:spcPts val="5049"/>
              </a:lnSpc>
              <a:spcBef>
                <a:spcPct val="0"/>
              </a:spcBef>
              <a:defRPr/>
            </a:pPr>
            <a:r>
              <a:rPr lang="ko-KR" altLang="en-US" sz="3300" b="1" spc="686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김준현</a:t>
            </a:r>
            <a:endParaRPr lang="ko-KR" altLang="en-US" sz="3300" b="1" spc="686">
              <a:solidFill>
                <a:srgbClr val="ffffff"/>
              </a:solidFill>
              <a:latin typeface="Nanum Square Round Bold"/>
              <a:ea typeface="Nanum Square Round Bold"/>
              <a:cs typeface="Nanum Square Round Bold"/>
              <a:sym typeface="Nanum Square Round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4303668" y="5295900"/>
            <a:ext cx="2173332" cy="42862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366"/>
              </a:lnSpc>
              <a:spcBef>
                <a:spcPct val="0"/>
              </a:spcBef>
              <a:defRPr/>
            </a:pPr>
            <a:r>
              <a:rPr lang="en-US" altLang="ko-KR" sz="2200">
                <a:solidFill>
                  <a:schemeClr val="lt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2171073</a:t>
            </a:r>
            <a:endParaRPr lang="en-US" altLang="ko-KR" sz="2200">
              <a:solidFill>
                <a:schemeClr val="lt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563600" y="5600958"/>
            <a:ext cx="2173332" cy="33311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defRPr/>
            </a:pPr>
            <a:r>
              <a:rPr lang="en-US" altLang="ko-KR" sz="2200">
                <a:solidFill>
                  <a:schemeClr val="lt1"/>
                </a:solidFill>
              </a:rPr>
              <a:t>2171062 </a:t>
            </a:r>
            <a:endParaRPr lang="en-US" sz="2200">
              <a:solidFill>
                <a:schemeClr val="lt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id="10" name="Group 10"/>
          <p:cNvGrpSpPr/>
          <p:nvPr/>
        </p:nvGrpSpPr>
        <p:grpSpPr>
          <a:xfrm rot="0">
            <a:off x="3674557" y="3503288"/>
            <a:ext cx="10938886" cy="5678812"/>
            <a:chOff x="0" y="0"/>
            <a:chExt cx="2881023" cy="105884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81023" cy="1058846"/>
            </a:xfrm>
            <a:custGeom>
              <a:avLst/>
              <a:gdLst/>
              <a:rect l="l" t="t" r="r" b="b"/>
              <a:pathLst>
                <a:path w="2881023" h="1058846">
                  <a:moveTo>
                    <a:pt x="16278" y="0"/>
                  </a:moveTo>
                  <a:lnTo>
                    <a:pt x="2864745" y="0"/>
                  </a:lnTo>
                  <a:cubicBezTo>
                    <a:pt x="2869062" y="0"/>
                    <a:pt x="2873203" y="1715"/>
                    <a:pt x="2876256" y="4768"/>
                  </a:cubicBezTo>
                  <a:cubicBezTo>
                    <a:pt x="2879308" y="7820"/>
                    <a:pt x="2881023" y="11961"/>
                    <a:pt x="2881023" y="16278"/>
                  </a:cubicBezTo>
                  <a:lnTo>
                    <a:pt x="2881023" y="1042568"/>
                  </a:lnTo>
                  <a:cubicBezTo>
                    <a:pt x="2881023" y="1051558"/>
                    <a:pt x="2873735" y="1058846"/>
                    <a:pt x="2864745" y="1058846"/>
                  </a:cubicBezTo>
                  <a:lnTo>
                    <a:pt x="16278" y="1058846"/>
                  </a:lnTo>
                  <a:cubicBezTo>
                    <a:pt x="7288" y="1058846"/>
                    <a:pt x="0" y="1051558"/>
                    <a:pt x="0" y="1042568"/>
                  </a:cubicBezTo>
                  <a:lnTo>
                    <a:pt x="0" y="16278"/>
                  </a:lnTo>
                  <a:cubicBezTo>
                    <a:pt x="0" y="7288"/>
                    <a:pt x="7288" y="0"/>
                    <a:pt x="162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881023" cy="110647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 rot="0">
            <a:off x="6598782" y="3059699"/>
            <a:ext cx="5090436" cy="1020955"/>
            <a:chOff x="0" y="0"/>
            <a:chExt cx="1340691" cy="2336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0691" cy="233660"/>
            </a:xfrm>
            <a:custGeom>
              <a:avLst/>
              <a:gdLst/>
              <a:rect l="l" t="t" r="r" b="b"/>
              <a:pathLst>
                <a:path w="1340691" h="233660">
                  <a:moveTo>
                    <a:pt x="65398" y="0"/>
                  </a:moveTo>
                  <a:lnTo>
                    <a:pt x="1275293" y="0"/>
                  </a:lnTo>
                  <a:cubicBezTo>
                    <a:pt x="1311412" y="0"/>
                    <a:pt x="1340691" y="29280"/>
                    <a:pt x="1340691" y="65398"/>
                  </a:cubicBezTo>
                  <a:lnTo>
                    <a:pt x="1340691" y="168262"/>
                  </a:lnTo>
                  <a:cubicBezTo>
                    <a:pt x="1340691" y="185607"/>
                    <a:pt x="1333801" y="202241"/>
                    <a:pt x="1321536" y="214506"/>
                  </a:cubicBezTo>
                  <a:cubicBezTo>
                    <a:pt x="1309272" y="226770"/>
                    <a:pt x="1292638" y="233660"/>
                    <a:pt x="1275293" y="233660"/>
                  </a:cubicBezTo>
                  <a:lnTo>
                    <a:pt x="65398" y="233660"/>
                  </a:lnTo>
                  <a:cubicBezTo>
                    <a:pt x="29280" y="233660"/>
                    <a:pt x="0" y="204381"/>
                    <a:pt x="0" y="168262"/>
                  </a:cubicBezTo>
                  <a:lnTo>
                    <a:pt x="0" y="65398"/>
                  </a:lnTo>
                  <a:cubicBezTo>
                    <a:pt x="0" y="48053"/>
                    <a:pt x="6890" y="31419"/>
                    <a:pt x="19155" y="19155"/>
                  </a:cubicBezTo>
                  <a:cubicBezTo>
                    <a:pt x="31419" y="6890"/>
                    <a:pt x="48053" y="0"/>
                    <a:pt x="65398" y="0"/>
                  </a:cubicBezTo>
                  <a:close/>
                </a:path>
              </a:pathLst>
            </a:custGeom>
            <a:solidFill>
              <a:srgbClr val="000000"/>
            </a:solidFill>
            <a:ln cap="rnd">
              <a:noFill/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1340691" cy="281285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just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667504" y="3289466"/>
            <a:ext cx="5048242" cy="42412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>
              <a:buNone/>
              <a:defRPr/>
            </a:pPr>
            <a:r>
              <a:rPr lang="en-US" altLang="ko-KR" sz="2799">
                <a:solidFill>
                  <a:schemeClr val="lt1"/>
                </a:solidFill>
              </a:rPr>
              <a:t>Russian Roulette (</a:t>
            </a:r>
            <a:r>
              <a:rPr lang="ko-KR" altLang="en-US" sz="2799">
                <a:solidFill>
                  <a:schemeClr val="lt1"/>
                </a:solidFill>
              </a:rPr>
              <a:t>러시안 룰렛</a:t>
            </a:r>
            <a:r>
              <a:rPr lang="en-US" altLang="ko-KR" sz="2799">
                <a:solidFill>
                  <a:schemeClr val="lt1"/>
                </a:solidFill>
              </a:rPr>
              <a:t>)</a:t>
            </a:r>
            <a:endParaRPr lang="en-US" sz="2799">
              <a:solidFill>
                <a:schemeClr val="lt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535246" y="4387977"/>
            <a:ext cx="9312758" cy="34415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>
              <a:buNone/>
              <a:defRPr/>
            </a:pPr>
            <a:r>
              <a:rPr lang="ko-KR" altLang="en-US" sz="2200"/>
              <a:t>자바</a:t>
            </a:r>
            <a:r>
              <a:rPr lang="en-US" altLang="ko-KR" sz="2200"/>
              <a:t>(Java) </a:t>
            </a:r>
            <a:r>
              <a:rPr lang="ko-KR" altLang="en-US" sz="2200"/>
              <a:t>기반의 </a:t>
            </a:r>
            <a:r>
              <a:rPr lang="en-US" altLang="ko-KR" sz="2200"/>
              <a:t>2</a:t>
            </a:r>
            <a:r>
              <a:rPr lang="ko-KR" altLang="en-US" sz="2200"/>
              <a:t>인용 네트워크 대전 게임</a:t>
            </a:r>
            <a:endParaRPr lang="en-US" sz="2200" u="none" strike="noStrike">
              <a:solidFill>
                <a:srgbClr val="000000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  <a:p>
            <a:pPr marL="0" lvl="0" indent="0" algn="just">
              <a:lnSpc>
                <a:spcPts val="3366"/>
              </a:lnSpc>
              <a:spcBef>
                <a:spcPct val="0"/>
              </a:spcBef>
              <a:defRPr/>
            </a:pPr>
            <a:endParaRPr lang="en-US" sz="2200" u="none" strike="noStrike">
              <a:solidFill>
                <a:srgbClr val="000000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  <a:p>
            <a:pPr marL="0" lvl="0" indent="0">
              <a:buNone/>
              <a:defRPr/>
            </a:pPr>
            <a:r>
              <a:rPr lang="en-US" altLang="ko-KR" sz="2200"/>
              <a:t>1. </a:t>
            </a:r>
            <a:r>
              <a:rPr lang="ko-KR" altLang="en-US" sz="2200"/>
              <a:t>이 프로젝트는 </a:t>
            </a:r>
            <a:r>
              <a:rPr lang="en-US" altLang="ko-KR" sz="2200"/>
              <a:t>TCP </a:t>
            </a:r>
            <a:r>
              <a:rPr lang="ko-KR" altLang="en-US" sz="2200"/>
              <a:t>소켓 통신을 이용하여 두 명의 사용자가 실시간으로 대전할 수 있는 턴제 심리 게임을 구현한 것이다</a:t>
            </a:r>
            <a:r>
              <a:rPr lang="en-US" altLang="ko-KR" sz="2200"/>
              <a:t>.</a:t>
            </a:r>
            <a:endParaRPr lang="en-US" altLang="ko-KR" sz="2200"/>
          </a:p>
          <a:p>
            <a:pPr marL="0" lvl="0" indent="0">
              <a:buNone/>
              <a:defRPr/>
            </a:pPr>
            <a:br>
              <a:rPr lang="en-US" altLang="ko-KR" sz="2200"/>
            </a:br>
            <a:r>
              <a:rPr lang="en-US" altLang="ko-KR" sz="2200"/>
              <a:t>2. </a:t>
            </a:r>
            <a:r>
              <a:rPr lang="ko-KR" altLang="en-US" sz="2200"/>
              <a:t>각 플레이어는 진짜 총알과 가짜 총알이 무작위로 섞인 리볼버를 공유하며</a:t>
            </a:r>
            <a:r>
              <a:rPr lang="en-US" altLang="ko-KR" sz="2200"/>
              <a:t>, </a:t>
            </a:r>
            <a:r>
              <a:rPr lang="ko-KR" altLang="en-US" sz="2200"/>
              <a:t>턴마다 상대를 향해 쏘거나 자신한테 쏠 수 있다</a:t>
            </a:r>
            <a:r>
              <a:rPr lang="en-US" altLang="ko-KR" sz="2200"/>
              <a:t>.</a:t>
            </a:r>
            <a:endParaRPr lang="en-US" altLang="ko-KR" sz="2200"/>
          </a:p>
          <a:p>
            <a:pPr marL="0" lvl="0" indent="0">
              <a:buNone/>
              <a:defRPr/>
            </a:pPr>
            <a:br>
              <a:rPr lang="en-US" altLang="ko-KR" sz="2200"/>
            </a:br>
            <a:r>
              <a:rPr lang="en-US" altLang="ko-KR" sz="2200"/>
              <a:t>3. HP</a:t>
            </a:r>
            <a:r>
              <a:rPr lang="ko-KR" altLang="en-US" sz="2200"/>
              <a:t>가 </a:t>
            </a:r>
            <a:r>
              <a:rPr lang="en-US" altLang="ko-KR" sz="2200"/>
              <a:t>0</a:t>
            </a:r>
            <a:r>
              <a:rPr lang="ko-KR" altLang="en-US" sz="2200"/>
              <a:t>이 되는 순간 패배하며</a:t>
            </a:r>
            <a:r>
              <a:rPr lang="en-US" altLang="ko-KR" sz="2200"/>
              <a:t>, </a:t>
            </a:r>
            <a:r>
              <a:rPr lang="ko-KR" altLang="en-US" sz="2200"/>
              <a:t>실시간으로 게임 상태</a:t>
            </a:r>
            <a:r>
              <a:rPr lang="en-US" altLang="ko-KR" sz="2200"/>
              <a:t>(HP, </a:t>
            </a:r>
            <a:r>
              <a:rPr lang="ko-KR" altLang="en-US" sz="2200"/>
              <a:t>남은 진짜</a:t>
            </a:r>
            <a:r>
              <a:rPr lang="en-US" altLang="ko-KR" sz="2200"/>
              <a:t>/</a:t>
            </a:r>
            <a:r>
              <a:rPr lang="ko-KR" altLang="en-US" sz="2200"/>
              <a:t>가짜 총알 수</a:t>
            </a:r>
            <a:r>
              <a:rPr lang="en-US" altLang="ko-KR" sz="2200"/>
              <a:t>, </a:t>
            </a:r>
            <a:r>
              <a:rPr lang="ko-KR" altLang="en-US" sz="2200"/>
              <a:t>턴 정보 등</a:t>
            </a:r>
            <a:r>
              <a:rPr lang="en-US" altLang="ko-KR" sz="2200"/>
              <a:t>)</a:t>
            </a:r>
            <a:r>
              <a:rPr lang="ko-KR" altLang="en-US" sz="2200"/>
              <a:t>가 갱신된다</a:t>
            </a:r>
            <a:r>
              <a:rPr lang="en-US" altLang="ko-KR" sz="2200"/>
              <a:t>.</a:t>
            </a:r>
            <a:endParaRPr lang="en-US" sz="2200" u="none" strike="noStrike">
              <a:solidFill>
                <a:srgbClr val="000000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567886" y="1775897"/>
            <a:ext cx="7152228" cy="13582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737"/>
              </a:lnSpc>
              <a:spcBef>
                <a:spcPct val="0"/>
              </a:spcBef>
              <a:defRPr/>
            </a:pPr>
            <a:r>
              <a:rPr lang="en-US" sz="720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프로젝트</a:t>
            </a:r>
            <a:r>
              <a:rPr lang="en-US" sz="7669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 소개</a:t>
            </a:r>
            <a:endParaRPr lang="en-US" sz="7669">
              <a:solidFill>
                <a:srgbClr val="000000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5567886" y="2202332"/>
            <a:ext cx="7152228" cy="136001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737"/>
              </a:lnSpc>
              <a:spcBef>
                <a:spcPct val="0"/>
              </a:spcBef>
              <a:defRPr/>
            </a:pPr>
            <a:r>
              <a:rPr lang="ko-KR" altLang="en-US" sz="6500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기능 설명</a:t>
            </a:r>
            <a:endParaRPr lang="ko-KR" altLang="en-US" sz="6500">
              <a:solidFill>
                <a:srgbClr val="000000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  <p:graphicFrame>
        <p:nvGraphicFramePr>
          <p:cNvPr id="36" name="내용 개체 틀 2"/>
          <p:cNvGraphicFramePr>
            <a:graphicFrameLocks noGrp="1"/>
          </p:cNvGraphicFramePr>
          <p:nvPr/>
        </p:nvGraphicFramePr>
        <p:xfrm>
          <a:off x="4267200" y="3619500"/>
          <a:ext cx="10515600" cy="4872990"/>
        </p:xfrm>
        <a:graphic>
          <a:graphicData uri="http://schemas.openxmlformats.org/drawingml/2006/table">
            <a:tbl>
              <a:tblPr firstRow="1" bandRow="1"/>
              <a:tblGrid>
                <a:gridCol w="5257800"/>
                <a:gridCol w="5257800"/>
              </a:tblGrid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b="1">
                          <a:solidFill>
                            <a:schemeClr val="lt1"/>
                          </a:solidFill>
                        </a:rPr>
                        <a:t>기능</a:t>
                      </a:r>
                      <a:endParaRPr lang="ko-KR" altLang="en-US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b="1">
                          <a:solidFill>
                            <a:schemeClr val="lt1"/>
                          </a:solidFill>
                        </a:rPr>
                        <a:t>설명</a:t>
                      </a:r>
                      <a:endParaRPr lang="ko-KR" altLang="en-US" b="1">
                        <a:solidFill>
                          <a:schemeClr val="lt1"/>
                        </a:solidFill>
                      </a:endParaRPr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dk1"/>
                    </a:solidFill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1. </a:t>
                      </a:r>
                      <a:r>
                        <a:rPr lang="ko-KR" altLang="en-US"/>
                        <a:t>방 생성 및 참여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IP/</a:t>
                      </a:r>
                      <a:r>
                        <a:rPr lang="ko-KR" altLang="en-US"/>
                        <a:t>포트번호를 이용하여 방 생성 및 참여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2. </a:t>
                      </a:r>
                      <a:r>
                        <a:rPr lang="ko-KR" altLang="en-US"/>
                        <a:t>턴 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공탄을 자신에게 발사했을 경우 추가 턴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3. </a:t>
                      </a:r>
                      <a:r>
                        <a:rPr lang="ko-KR" altLang="en-US"/>
                        <a:t>발사 기능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자신의 턴에만 발사 가능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결과는 서버에서 판정</a:t>
                      </a:r>
                      <a:endParaRPr lang="ko-KR" altLang="en-US"/>
                    </a:p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조작키를 이용하여 발사 방향 조정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4. </a:t>
                      </a:r>
                      <a:r>
                        <a:rPr lang="ko-KR" altLang="en-US"/>
                        <a:t>진짜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가짜 총알 랜덤 배치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총에 </a:t>
                      </a:r>
                      <a:r>
                        <a:rPr lang="en-US" altLang="ko-KR"/>
                        <a:t>2~6</a:t>
                      </a:r>
                      <a:r>
                        <a:rPr lang="ko-KR" altLang="en-US"/>
                        <a:t>개의 진짜 및 가짜 총알 무작위 삽입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5.</a:t>
                      </a:r>
                      <a:r>
                        <a:rPr lang="ko-KR" altLang="en-US"/>
                        <a:t>자동 재장전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총알 모두 소진 시 자동으로 새 총알 장전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/>
                        <a:t>6. HP </a:t>
                      </a:r>
                      <a:r>
                        <a:rPr lang="ko-KR" altLang="en-US"/>
                        <a:t>시스템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각 플레이어 기본 </a:t>
                      </a:r>
                      <a:r>
                        <a:rPr lang="en-US" altLang="ko-KR"/>
                        <a:t>HP </a:t>
                      </a:r>
                      <a:r>
                        <a:rPr lang="ko-KR" altLang="en-US"/>
                        <a:t>부여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기본 피격 시 </a:t>
                      </a:r>
                      <a:r>
                        <a:rPr lang="en-US" altLang="ko-KR"/>
                        <a:t>-1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7. </a:t>
                      </a:r>
                      <a:r>
                        <a:rPr lang="ko-KR" altLang="en-US"/>
                        <a:t>실시간 상태 갱신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상대 및 자신 </a:t>
                      </a:r>
                      <a:r>
                        <a:rPr lang="en-US" altLang="ko-KR"/>
                        <a:t>HP, </a:t>
                      </a:r>
                      <a:r>
                        <a:rPr lang="ko-KR" altLang="en-US"/>
                        <a:t>진짜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가짜 총알 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턴 정보를 즉시 갱신</a:t>
                      </a:r>
                      <a:endParaRPr lang="ko-KR" altLang="en-US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8. </a:t>
                      </a:r>
                      <a:r>
                        <a:rPr lang="ko-KR" altLang="en-US"/>
                        <a:t>로그창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모든 발사 결과와 진행 메시지를 시각적으로 출력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9. </a:t>
                      </a:r>
                      <a:r>
                        <a:rPr lang="ko-KR" altLang="en-US"/>
                        <a:t>아이템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다양한 특수 아이템 추가</a:t>
                      </a:r>
                      <a:r>
                        <a:rPr lang="en-US" altLang="ko-KR"/>
                        <a:t>(HP</a:t>
                      </a:r>
                      <a:r>
                        <a:rPr lang="ko-KR" altLang="en-US"/>
                        <a:t>회복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진짜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가짜 파악</a:t>
                      </a:r>
                      <a:r>
                        <a:rPr lang="en-US" altLang="ko-KR"/>
                        <a:t>,</a:t>
                      </a:r>
                      <a:r>
                        <a:rPr lang="ko-KR" altLang="en-US"/>
                        <a:t>피격 시 </a:t>
                      </a:r>
                      <a:r>
                        <a:rPr lang="en-US" altLang="ko-KR"/>
                        <a:t>2</a:t>
                      </a:r>
                      <a:r>
                        <a:rPr lang="ko-KR" altLang="en-US"/>
                        <a:t>배 데미지 등등</a:t>
                      </a:r>
                      <a:r>
                        <a:rPr lang="en-US" altLang="ko-KR"/>
                        <a:t>)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  <a:tr h="0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/>
                        <a:t>10. </a:t>
                      </a:r>
                      <a:r>
                        <a:rPr lang="ko-KR" altLang="en-US"/>
                        <a:t>채팅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기본 채팅 기능</a:t>
                      </a:r>
                      <a:endParaRPr lang="en-US" altLang="ko-KR"/>
                    </a:p>
                  </a:txBody>
                  <a:tcPr marL="91440" marR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278896" y="8211079"/>
            <a:ext cx="1657828" cy="1693338"/>
          </a:xfrm>
          <a:custGeom>
            <a:avLst/>
            <a:gdLst/>
            <a:ahLst/>
            <a:cxnLst/>
            <a:rect r="r" b="b" t="t" l="l"/>
            <a:pathLst>
              <a:path h="1693338" w="1657828">
                <a:moveTo>
                  <a:pt x="0" y="0"/>
                </a:moveTo>
                <a:lnTo>
                  <a:pt x="1657828" y="0"/>
                </a:lnTo>
                <a:lnTo>
                  <a:pt x="1657828" y="1693338"/>
                </a:lnTo>
                <a:lnTo>
                  <a:pt x="0" y="169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166789" r="-288282" b="0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67886" y="2202332"/>
            <a:ext cx="7152228" cy="5408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소스 파일 목록</a:t>
            </a:r>
            <a:endParaRPr lang="en-US" sz="7669">
              <a:solidFill>
                <a:schemeClr val="dk1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  <p:grpSp>
        <p:nvGrpSpPr>
          <p:cNvPr id="37" name="Group 10"/>
          <p:cNvGrpSpPr/>
          <p:nvPr/>
        </p:nvGrpSpPr>
        <p:grpSpPr>
          <a:xfrm rot="0">
            <a:off x="3674557" y="3503288"/>
            <a:ext cx="10938886" cy="5678812"/>
            <a:chOff x="0" y="0"/>
            <a:chExt cx="2881023" cy="1058846"/>
          </a:xfrm>
        </p:grpSpPr>
        <p:sp>
          <p:nvSpPr>
            <p:cNvPr id="38" name="Freeform 11"/>
            <p:cNvSpPr/>
            <p:nvPr/>
          </p:nvSpPr>
          <p:spPr>
            <a:xfrm>
              <a:off x="0" y="0"/>
              <a:ext cx="2881023" cy="1058846"/>
            </a:xfrm>
            <a:custGeom>
              <a:avLst/>
              <a:gdLst/>
              <a:rect l="l" t="t" r="r" b="b"/>
              <a:pathLst>
                <a:path w="2881023" h="1058846">
                  <a:moveTo>
                    <a:pt x="16278" y="0"/>
                  </a:moveTo>
                  <a:lnTo>
                    <a:pt x="2864745" y="0"/>
                  </a:lnTo>
                  <a:cubicBezTo>
                    <a:pt x="2869062" y="0"/>
                    <a:pt x="2873203" y="1715"/>
                    <a:pt x="2876256" y="4768"/>
                  </a:cubicBezTo>
                  <a:cubicBezTo>
                    <a:pt x="2879308" y="7820"/>
                    <a:pt x="2881023" y="11961"/>
                    <a:pt x="2881023" y="16278"/>
                  </a:cubicBezTo>
                  <a:lnTo>
                    <a:pt x="2881023" y="1042568"/>
                  </a:lnTo>
                  <a:cubicBezTo>
                    <a:pt x="2881023" y="1051558"/>
                    <a:pt x="2873735" y="1058846"/>
                    <a:pt x="2864745" y="1058846"/>
                  </a:cubicBezTo>
                  <a:lnTo>
                    <a:pt x="16278" y="1058846"/>
                  </a:lnTo>
                  <a:cubicBezTo>
                    <a:pt x="7288" y="1058846"/>
                    <a:pt x="0" y="1051558"/>
                    <a:pt x="0" y="1042568"/>
                  </a:cubicBezTo>
                  <a:lnTo>
                    <a:pt x="0" y="16278"/>
                  </a:lnTo>
                  <a:cubicBezTo>
                    <a:pt x="0" y="7288"/>
                    <a:pt x="7288" y="0"/>
                    <a:pt x="162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TextBox 12"/>
            <p:cNvSpPr txBox="1"/>
            <p:nvPr/>
          </p:nvSpPr>
          <p:spPr>
            <a:xfrm>
              <a:off x="0" y="-47625"/>
              <a:ext cx="2881023" cy="110647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40" name="가로 글상자 39"/>
          <p:cNvSpPr txBox="1"/>
          <p:nvPr/>
        </p:nvSpPr>
        <p:spPr>
          <a:xfrm>
            <a:off x="4038600" y="3817620"/>
            <a:ext cx="9144000" cy="4752975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latinLnBrk="0">
              <a:buNone/>
              <a:defRPr/>
            </a:pPr>
            <a:r>
              <a:rPr lang="en-US" altLang="ko-KR"/>
              <a:t>src/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├─ server/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│   ├─ ServerGuiMain.java     // 서버 GUI 진입점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│   ├─ ServerFrame.java       // 서버 로그 및 제어 창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│   ├─ Room.java              // ★ 핵심 로직 (턴, 판정, 동기화)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│   ├─ ClientHandler.java     // 클라이언트별 통신 스레드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│   ├─ Protocol.java          // 통신 명령어 정의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│   └─ ServerCore.java        // 소켓 Accept 관리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└─ client/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    ├─ ClientMain.java        // 클라이언트 진입점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    ├─ StartFrame.java        // 접속 UI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    ├─ RoomFrame.java         /대기실 UI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    ├─ GameRoomFrame.java     // ★ 인게임 UI &amp; 키 입력 처리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    ├─ ImageLoader.java       // 리소스 로딩 유틸리티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    └─ NetworkClient.java     //서버 송수신 스레드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resources/</a:t>
            </a:r>
            <a:endParaRPr lang="en-US" altLang="ko-KR"/>
          </a:p>
          <a:p>
            <a:pPr marL="0" lvl="0" indent="0" latinLnBrk="0">
              <a:buNone/>
              <a:defRPr/>
            </a:pPr>
            <a:r>
              <a:rPr lang="en-US" altLang="ko-KR"/>
              <a:t> └─ images/                    //배경/플레이어/총/라이프/아이템 이미지 리소스</a:t>
            </a:r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0" name="Freeform 10"/>
          <p:cNvSpPr/>
          <p:nvPr/>
        </p:nvSpPr>
        <p:spPr>
          <a:xfrm>
            <a:off x="1389943" y="1176191"/>
            <a:ext cx="556995" cy="139249"/>
          </a:xfrm>
          <a:custGeom>
            <a:avLst/>
            <a:gd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278896" y="8211079"/>
            <a:ext cx="1657828" cy="1693338"/>
          </a:xfrm>
          <a:custGeom>
            <a:avLst/>
            <a:gdLst/>
            <a:rect l="l" t="t" r="r" b="b"/>
            <a:pathLst>
              <a:path w="1657828" h="1693338">
                <a:moveTo>
                  <a:pt x="0" y="0"/>
                </a:moveTo>
                <a:lnTo>
                  <a:pt x="1657828" y="0"/>
                </a:lnTo>
                <a:lnTo>
                  <a:pt x="1657828" y="1693338"/>
                </a:lnTo>
                <a:lnTo>
                  <a:pt x="0" y="1693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166790" r="-288280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67886" y="2202332"/>
            <a:ext cx="7152228" cy="5408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실행 순서</a:t>
            </a:r>
            <a:endParaRPr lang="ko-KR" altLang="en-US" sz="7669">
              <a:solidFill>
                <a:schemeClr val="dk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grpSp>
        <p:nvGrpSpPr>
          <p:cNvPr id="37" name="Group 10"/>
          <p:cNvGrpSpPr/>
          <p:nvPr/>
        </p:nvGrpSpPr>
        <p:grpSpPr>
          <a:xfrm rot="0">
            <a:off x="2362200" y="3009900"/>
            <a:ext cx="13334999" cy="6172200"/>
            <a:chOff x="0" y="0"/>
            <a:chExt cx="2881023" cy="1058846"/>
          </a:xfrm>
        </p:grpSpPr>
        <p:sp>
          <p:nvSpPr>
            <p:cNvPr id="38" name="Freeform 11"/>
            <p:cNvSpPr/>
            <p:nvPr/>
          </p:nvSpPr>
          <p:spPr>
            <a:xfrm>
              <a:off x="0" y="0"/>
              <a:ext cx="2881023" cy="1058846"/>
            </a:xfrm>
            <a:custGeom>
              <a:avLst/>
              <a:gdLst/>
              <a:rect l="l" t="t" r="r" b="b"/>
              <a:pathLst>
                <a:path w="2881023" h="1058846">
                  <a:moveTo>
                    <a:pt x="16278" y="0"/>
                  </a:moveTo>
                  <a:lnTo>
                    <a:pt x="2864745" y="0"/>
                  </a:lnTo>
                  <a:cubicBezTo>
                    <a:pt x="2869062" y="0"/>
                    <a:pt x="2873203" y="1715"/>
                    <a:pt x="2876256" y="4768"/>
                  </a:cubicBezTo>
                  <a:cubicBezTo>
                    <a:pt x="2879308" y="7820"/>
                    <a:pt x="2881023" y="11961"/>
                    <a:pt x="2881023" y="16278"/>
                  </a:cubicBezTo>
                  <a:lnTo>
                    <a:pt x="2881023" y="1042568"/>
                  </a:lnTo>
                  <a:cubicBezTo>
                    <a:pt x="2881023" y="1051558"/>
                    <a:pt x="2873735" y="1058846"/>
                    <a:pt x="2864745" y="1058846"/>
                  </a:cubicBezTo>
                  <a:lnTo>
                    <a:pt x="16278" y="1058846"/>
                  </a:lnTo>
                  <a:cubicBezTo>
                    <a:pt x="7288" y="1058846"/>
                    <a:pt x="0" y="1051558"/>
                    <a:pt x="0" y="1042568"/>
                  </a:cubicBezTo>
                  <a:lnTo>
                    <a:pt x="0" y="16278"/>
                  </a:lnTo>
                  <a:cubicBezTo>
                    <a:pt x="0" y="7288"/>
                    <a:pt x="7288" y="0"/>
                    <a:pt x="162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TextBox 12"/>
            <p:cNvSpPr txBox="1"/>
            <p:nvPr/>
          </p:nvSpPr>
          <p:spPr>
            <a:xfrm>
              <a:off x="0" y="-47625"/>
              <a:ext cx="2881023" cy="110647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40" name="가로 글상자 39"/>
          <p:cNvSpPr txBox="1"/>
          <p:nvPr/>
        </p:nvSpPr>
        <p:spPr>
          <a:xfrm>
            <a:off x="4038600" y="3817620"/>
            <a:ext cx="9144000" cy="36195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latinLnBrk="0">
              <a:buNone/>
              <a:defRPr/>
            </a:pPr>
            <a:endParaRPr lang="en-US" altLang="ko-KR"/>
          </a:p>
        </p:txBody>
      </p:sp>
      <p:sp>
        <p:nvSpPr>
          <p:cNvPr id="41" name="TextBox 36"/>
          <p:cNvSpPr txBox="1"/>
          <p:nvPr/>
        </p:nvSpPr>
        <p:spPr>
          <a:xfrm>
            <a:off x="2666999" y="3288090"/>
            <a:ext cx="12725399" cy="7124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>
              <a:buNone/>
              <a:defRPr/>
            </a:pPr>
            <a:r>
              <a:rPr lang="en-US" altLang="ko-KR" sz="2500" b="1"/>
              <a:t>2-1 </a:t>
            </a:r>
            <a:r>
              <a:rPr lang="ko-KR" altLang="en-US" sz="2500" b="1"/>
              <a:t>서버 시작 </a:t>
            </a:r>
            <a:r>
              <a:rPr lang="en-US" altLang="ko-KR" sz="2500" b="1"/>
              <a:t>(Server Bootstrapping)</a:t>
            </a:r>
            <a:endParaRPr lang="en-US" altLang="ko-KR" sz="2500" b="1"/>
          </a:p>
          <a:p>
            <a:pPr marL="357000" lvl="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200"/>
              <a:t>서버는 클라이언트의 연결을 대기하는 역할을 수행하며</a:t>
            </a:r>
            <a:r>
              <a:rPr lang="en-US" altLang="ko-KR" sz="2200"/>
              <a:t>,</a:t>
            </a:r>
            <a:r>
              <a:rPr lang="ko-KR" altLang="en-US" sz="2200"/>
              <a:t> </a:t>
            </a:r>
            <a:r>
              <a:rPr lang="en-US" altLang="ko-KR" sz="2200"/>
              <a:t>ServerGuiMain.java</a:t>
            </a:r>
            <a:r>
              <a:rPr lang="ko-KR" altLang="en-US" sz="2200"/>
              <a:t>에서 시작</a:t>
            </a:r>
            <a:endParaRPr lang="ko-KR" altLang="en-US" sz="2200"/>
          </a:p>
        </p:txBody>
      </p:sp>
      <p:graphicFrame>
        <p:nvGraphicFramePr>
          <p:cNvPr id="43" name="표 42"/>
          <p:cNvGraphicFramePr>
            <a:graphicFrameLocks noGrp="1"/>
          </p:cNvGraphicFramePr>
          <p:nvPr/>
        </p:nvGraphicFramePr>
        <p:xfrm>
          <a:off x="3352800" y="4083050"/>
          <a:ext cx="11582400" cy="4718050"/>
        </p:xfrm>
        <a:graphic>
          <a:graphicData uri="http://schemas.openxmlformats.org/drawingml/2006/table">
            <a:tbl>
              <a:tblPr firstRow="1" bandRow="1">
                <a:tableStyle styleId="{5940675A-B579-460E-94D1-54222C63F5DA}" styleName="스타일 없음, 표 눈금">
                  <a:wholeTbl>
                    <a:tcTxStyle>
                      <a:fontRef idx="minor">
                        <a:scrgbClr r="0" g="0" b="0"/>
                      </a:fontRef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tx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tx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tx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tx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tx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tx1"/>
                            </a:solidFill>
                          </a:ln>
                        </a:insideV>
                      </a:tcBdr>
                      <a:fill>
                        <a:noFill/>
                      </a:fill>
                    </a:tcStyle>
                  </a:wholeTbl>
                </a:tableStyle>
              </a:tblPr>
              <a:tblGrid>
                <a:gridCol w="4419600"/>
                <a:gridCol w="7162800"/>
              </a:tblGrid>
              <a:tr h="436517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/>
                        <a:t>파일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/>
                        <a:t>역할 및 실행 순서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934897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b="1">
                          <a:latin typeface="+mj-lt"/>
                        </a:rPr>
                        <a:t>ServerGuiMain.java</a:t>
                      </a:r>
                      <a:endParaRPr lang="en-US" b="1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1. </a:t>
                      </a:r>
                      <a:r>
                        <a:rPr lang="ko-KR" altLang="en-US" sz="1600" b="0">
                          <a:latin typeface="+mj-lt"/>
                        </a:rPr>
                        <a:t>시작점</a:t>
                      </a:r>
                      <a:r>
                        <a:rPr lang="en-US" altLang="ko-KR" sz="1600" b="0">
                          <a:latin typeface="+mj-lt"/>
                        </a:rPr>
                        <a:t>: main</a:t>
                      </a:r>
                      <a:r>
                        <a:rPr lang="ko-KR" altLang="en-US" sz="1600" b="0">
                          <a:latin typeface="+mj-lt"/>
                        </a:rPr>
                        <a:t> 메서드에서 </a:t>
                      </a:r>
                      <a:r>
                        <a:rPr lang="en-US" altLang="ko-KR" sz="1600" b="0">
                          <a:latin typeface="+mj-lt"/>
                        </a:rPr>
                        <a:t>Swing </a:t>
                      </a:r>
                      <a:r>
                        <a:rPr lang="ko-KR" altLang="en-US" sz="1600" b="0">
                          <a:latin typeface="+mj-lt"/>
                        </a:rPr>
                        <a:t>스레드를 통해 </a:t>
                      </a:r>
                      <a:r>
                        <a:rPr lang="en-US" altLang="ko-KR" sz="1600" b="0">
                          <a:latin typeface="+mj-lt"/>
                        </a:rPr>
                        <a:t>ServerFrame</a:t>
                      </a:r>
                      <a:r>
                        <a:rPr lang="ko-KR" altLang="en-US" sz="1600" b="0">
                          <a:latin typeface="+mj-lt"/>
                        </a:rPr>
                        <a:t> 인스턴스를 생성하고 화면에 표시합니다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691153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>
                          <a:latin typeface="+mj-lt"/>
                        </a:rPr>
                        <a:t>ServerFrame.java</a:t>
                      </a:r>
                      <a:endParaRPr lang="en-US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2. GUI </a:t>
                      </a:r>
                      <a:r>
                        <a:rPr lang="ko-KR" altLang="en-US" sz="1600" b="0">
                          <a:latin typeface="+mj-lt"/>
                        </a:rPr>
                        <a:t>초기화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서버 </a:t>
                      </a:r>
                      <a:r>
                        <a:rPr lang="en-US" altLang="ko-KR" sz="1600" b="0">
                          <a:latin typeface="+mj-lt"/>
                        </a:rPr>
                        <a:t>GUI(</a:t>
                      </a:r>
                      <a:r>
                        <a:rPr lang="ko-KR" altLang="en-US" sz="1600" b="0">
                          <a:latin typeface="+mj-lt"/>
                        </a:rPr>
                        <a:t>포트 입력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로그 영역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시작</a:t>
                      </a:r>
                      <a:r>
                        <a:rPr lang="en-US" altLang="ko-KR" sz="1600" b="0">
                          <a:latin typeface="+mj-lt"/>
                        </a:rPr>
                        <a:t>/</a:t>
                      </a:r>
                      <a:r>
                        <a:rPr lang="ko-KR" altLang="en-US" sz="1600" b="0">
                          <a:latin typeface="+mj-lt"/>
                        </a:rPr>
                        <a:t>종료 버튼</a:t>
                      </a:r>
                      <a:r>
                        <a:rPr lang="en-US" altLang="ko-KR" sz="1600" b="0">
                          <a:latin typeface="+mj-lt"/>
                        </a:rPr>
                        <a:t>)</a:t>
                      </a:r>
                      <a:r>
                        <a:rPr lang="ko-KR" altLang="en-US" sz="1600" b="0">
                          <a:latin typeface="+mj-lt"/>
                        </a:rPr>
                        <a:t>를 설정합니다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691153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3. </a:t>
                      </a:r>
                      <a:r>
                        <a:rPr lang="ko-KR" altLang="en-US" sz="1600" b="0">
                          <a:latin typeface="+mj-lt"/>
                        </a:rPr>
                        <a:t>서버 시작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사용자가 </a:t>
                      </a:r>
                      <a:r>
                        <a:rPr lang="en-US" altLang="ko-KR" sz="1600" b="0">
                          <a:latin typeface="+mj-lt"/>
                        </a:rPr>
                        <a:t>'Game Start' </a:t>
                      </a:r>
                      <a:r>
                        <a:rPr lang="ko-KR" altLang="en-US" sz="1600" b="0">
                          <a:latin typeface="+mj-lt"/>
                        </a:rPr>
                        <a:t>버튼을 누르면 </a:t>
                      </a:r>
                      <a:r>
                        <a:rPr lang="en-US" altLang="ko-KR" sz="1600" b="0">
                          <a:latin typeface="+mj-lt"/>
                        </a:rPr>
                        <a:t>startServer()</a:t>
                      </a:r>
                      <a:r>
                        <a:rPr lang="ko-KR" altLang="en-US" sz="1600" b="0">
                          <a:latin typeface="+mj-lt"/>
                        </a:rPr>
                        <a:t> 메서드가 호출됩니다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982165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>
                          <a:latin typeface="+mj-lt"/>
                        </a:rPr>
                        <a:t>ServerCore.java</a:t>
                      </a:r>
                      <a:endParaRPr lang="en-US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4. </a:t>
                      </a:r>
                      <a:r>
                        <a:rPr lang="ko-KR" altLang="en-US" sz="1600" b="0">
                          <a:latin typeface="+mj-lt"/>
                        </a:rPr>
                        <a:t>코어 시작</a:t>
                      </a:r>
                      <a:r>
                        <a:rPr lang="en-US" altLang="ko-KR" sz="1600" b="0">
                          <a:latin typeface="+mj-lt"/>
                        </a:rPr>
                        <a:t>: ServerCore</a:t>
                      </a:r>
                      <a:r>
                        <a:rPr lang="ko-KR" altLang="en-US" sz="1600" b="0">
                          <a:latin typeface="+mj-lt"/>
                        </a:rPr>
                        <a:t> 인스턴스를 생성하고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지정된 포트로 </a:t>
                      </a:r>
                      <a:r>
                        <a:rPr lang="en-US" altLang="ko-KR" sz="1600" b="0">
                          <a:latin typeface="+mj-lt"/>
                        </a:rPr>
                        <a:t>ServerSocket</a:t>
                      </a:r>
                      <a:r>
                        <a:rPr lang="ko-KR" altLang="en-US" sz="1600" b="0">
                          <a:latin typeface="+mj-lt"/>
                        </a:rPr>
                        <a:t>을 열어 </a:t>
                      </a:r>
                      <a:r>
                        <a:rPr lang="en-US" altLang="ko-KR" sz="1600" b="0">
                          <a:latin typeface="+mj-lt"/>
                        </a:rPr>
                        <a:t>start(port)</a:t>
                      </a:r>
                      <a:r>
                        <a:rPr lang="ko-KR" altLang="en-US" sz="1600" b="0">
                          <a:latin typeface="+mj-lt"/>
                        </a:rPr>
                        <a:t> 메서드를 실행합니다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982165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5. </a:t>
                      </a:r>
                      <a:r>
                        <a:rPr lang="ko-KR" altLang="en-US" sz="1600" b="0">
                          <a:latin typeface="+mj-lt"/>
                        </a:rPr>
                        <a:t>연결 대기</a:t>
                      </a:r>
                      <a:r>
                        <a:rPr lang="en-US" altLang="ko-KR" sz="1600" b="0">
                          <a:latin typeface="+mj-lt"/>
                        </a:rPr>
                        <a:t>: acceptLoop()</a:t>
                      </a:r>
                      <a:r>
                        <a:rPr lang="ko-KR" altLang="en-US" sz="1600" b="0">
                          <a:latin typeface="+mj-lt"/>
                        </a:rPr>
                        <a:t> 스레드를 시작하여 두 명의 클라이언트</a:t>
                      </a:r>
                      <a:r>
                        <a:rPr lang="en-US" altLang="ko-KR" sz="1600" b="0">
                          <a:latin typeface="+mj-lt"/>
                        </a:rPr>
                        <a:t>(P1, P2)</a:t>
                      </a:r>
                      <a:r>
                        <a:rPr lang="ko-KR" altLang="en-US" sz="1600" b="0">
                          <a:latin typeface="+mj-lt"/>
                        </a:rPr>
                        <a:t>가 연결될 때까지 블록킹 상태로 대기합니다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1192364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0" name="Freeform 10"/>
          <p:cNvSpPr/>
          <p:nvPr/>
        </p:nvSpPr>
        <p:spPr>
          <a:xfrm>
            <a:off x="1389943" y="1176191"/>
            <a:ext cx="556995" cy="139249"/>
          </a:xfrm>
          <a:custGeom>
            <a:avLst/>
            <a:gd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278896" y="8211079"/>
            <a:ext cx="1657828" cy="1693338"/>
          </a:xfrm>
          <a:custGeom>
            <a:avLst/>
            <a:gdLst/>
            <a:rect l="l" t="t" r="r" b="b"/>
            <a:pathLst>
              <a:path w="1657828" h="1693338">
                <a:moveTo>
                  <a:pt x="0" y="0"/>
                </a:moveTo>
                <a:lnTo>
                  <a:pt x="1657828" y="0"/>
                </a:lnTo>
                <a:lnTo>
                  <a:pt x="1657828" y="1693338"/>
                </a:lnTo>
                <a:lnTo>
                  <a:pt x="0" y="1693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166790" r="-288280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67886" y="2202332"/>
            <a:ext cx="7152228" cy="5408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실행 순서</a:t>
            </a:r>
            <a:endParaRPr lang="ko-KR" altLang="en-US" sz="7669">
              <a:solidFill>
                <a:schemeClr val="dk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grpSp>
        <p:nvGrpSpPr>
          <p:cNvPr id="37" name="Group 10"/>
          <p:cNvGrpSpPr/>
          <p:nvPr/>
        </p:nvGrpSpPr>
        <p:grpSpPr>
          <a:xfrm rot="0">
            <a:off x="2362200" y="3009900"/>
            <a:ext cx="13334999" cy="6172200"/>
            <a:chOff x="0" y="0"/>
            <a:chExt cx="2881023" cy="1058846"/>
          </a:xfrm>
        </p:grpSpPr>
        <p:sp>
          <p:nvSpPr>
            <p:cNvPr id="38" name="Freeform 11"/>
            <p:cNvSpPr/>
            <p:nvPr/>
          </p:nvSpPr>
          <p:spPr>
            <a:xfrm>
              <a:off x="0" y="0"/>
              <a:ext cx="2881023" cy="1058846"/>
            </a:xfrm>
            <a:custGeom>
              <a:avLst/>
              <a:gdLst/>
              <a:rect l="l" t="t" r="r" b="b"/>
              <a:pathLst>
                <a:path w="2881023" h="1058846">
                  <a:moveTo>
                    <a:pt x="16278" y="0"/>
                  </a:moveTo>
                  <a:lnTo>
                    <a:pt x="2864745" y="0"/>
                  </a:lnTo>
                  <a:cubicBezTo>
                    <a:pt x="2869062" y="0"/>
                    <a:pt x="2873203" y="1715"/>
                    <a:pt x="2876256" y="4768"/>
                  </a:cubicBezTo>
                  <a:cubicBezTo>
                    <a:pt x="2879308" y="7820"/>
                    <a:pt x="2881023" y="11961"/>
                    <a:pt x="2881023" y="16278"/>
                  </a:cubicBezTo>
                  <a:lnTo>
                    <a:pt x="2881023" y="1042568"/>
                  </a:lnTo>
                  <a:cubicBezTo>
                    <a:pt x="2881023" y="1051558"/>
                    <a:pt x="2873735" y="1058846"/>
                    <a:pt x="2864745" y="1058846"/>
                  </a:cubicBezTo>
                  <a:lnTo>
                    <a:pt x="16278" y="1058846"/>
                  </a:lnTo>
                  <a:cubicBezTo>
                    <a:pt x="7288" y="1058846"/>
                    <a:pt x="0" y="1051558"/>
                    <a:pt x="0" y="1042568"/>
                  </a:cubicBezTo>
                  <a:lnTo>
                    <a:pt x="0" y="16278"/>
                  </a:lnTo>
                  <a:cubicBezTo>
                    <a:pt x="0" y="7288"/>
                    <a:pt x="7288" y="0"/>
                    <a:pt x="162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TextBox 12"/>
            <p:cNvSpPr txBox="1"/>
            <p:nvPr/>
          </p:nvSpPr>
          <p:spPr>
            <a:xfrm>
              <a:off x="0" y="-47625"/>
              <a:ext cx="2881023" cy="110647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40" name="가로 글상자 39"/>
          <p:cNvSpPr txBox="1"/>
          <p:nvPr/>
        </p:nvSpPr>
        <p:spPr>
          <a:xfrm>
            <a:off x="4038600" y="3817620"/>
            <a:ext cx="9144000" cy="36195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latinLnBrk="0">
              <a:buNone/>
              <a:defRPr/>
            </a:pPr>
            <a:endParaRPr lang="en-US" altLang="ko-KR"/>
          </a:p>
        </p:txBody>
      </p:sp>
      <p:sp>
        <p:nvSpPr>
          <p:cNvPr id="41" name="TextBox 36"/>
          <p:cNvSpPr txBox="1"/>
          <p:nvPr/>
        </p:nvSpPr>
        <p:spPr>
          <a:xfrm>
            <a:off x="2666998" y="3288090"/>
            <a:ext cx="12725399" cy="7124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>
              <a:buNone/>
              <a:defRPr/>
            </a:pPr>
            <a:r>
              <a:rPr lang="en-US" altLang="ko-KR" sz="2500" b="1"/>
              <a:t>2-2 </a:t>
            </a:r>
            <a:r>
              <a:rPr lang="ko-KR" altLang="en-US" sz="2500" b="1"/>
              <a:t>클라이언트 연결 및 로비 진입 </a:t>
            </a:r>
            <a:r>
              <a:rPr lang="en-US" altLang="ko-KR" sz="2500" b="1"/>
              <a:t>(Client Connection &amp; Lobby)</a:t>
            </a:r>
            <a:endParaRPr lang="en-US" altLang="ko-KR" sz="2500" b="1"/>
          </a:p>
          <a:p>
            <a:pPr marL="357000" lvl="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200">
                <a:latin typeface="+mj-lt"/>
              </a:rPr>
              <a:t>두 명의 클라이언트가 서버에 연결되어 게임 대기방</a:t>
            </a:r>
            <a:r>
              <a:rPr lang="en-US" altLang="ko-KR" sz="2200">
                <a:latin typeface="+mj-lt"/>
              </a:rPr>
              <a:t>(RoomFrame)</a:t>
            </a:r>
            <a:r>
              <a:rPr lang="ko-KR" altLang="en-US" sz="2200">
                <a:latin typeface="+mj-lt"/>
              </a:rPr>
              <a:t>에 진입하는 단계</a:t>
            </a:r>
            <a:endParaRPr lang="ko-KR" altLang="en-US" sz="2200"/>
          </a:p>
        </p:txBody>
      </p:sp>
      <p:graphicFrame>
        <p:nvGraphicFramePr>
          <p:cNvPr id="44" name="표 43"/>
          <p:cNvGraphicFramePr>
            <a:graphicFrameLocks noGrp="1"/>
          </p:cNvGraphicFramePr>
          <p:nvPr/>
        </p:nvGraphicFramePr>
        <p:xfrm>
          <a:off x="3543299" y="4381500"/>
          <a:ext cx="11201401" cy="4233921"/>
        </p:xfrm>
        <a:graphic>
          <a:graphicData uri="http://schemas.openxmlformats.org/drawingml/2006/table">
            <a:tbl>
              <a:tblPr firstRow="1" bandRow="1">
                <a:tableStyle styleId="{5940675A-B579-460E-94D1-54222C63F5DA}" styleName="스타일 없음, 표 눈금">
                  <a:wholeTbl>
                    <a:tcTxStyle>
                      <a:fontRef idx="minor">
                        <a:scrgbClr r="0" g="0" b="0"/>
                      </a:fontRef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tx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tx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tx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tx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tx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tx1"/>
                            </a:solidFill>
                          </a:ln>
                        </a:insideV>
                      </a:tcBdr>
                      <a:fill>
                        <a:noFill/>
                      </a:fill>
                    </a:tcStyle>
                  </a:wholeTbl>
                </a:tableStyle>
              </a:tblPr>
              <a:tblGrid>
                <a:gridCol w="4495800"/>
                <a:gridCol w="6705600"/>
              </a:tblGrid>
              <a:tr h="586442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 sz="1600">
                          <a:latin typeface="+mj-lt"/>
                        </a:rPr>
                        <a:t>파일</a:t>
                      </a:r>
                      <a:endParaRPr lang="ko-KR" altLang="en-US" sz="160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역할 및 실행 순서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86442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sz="1600" b="1">
                          <a:latin typeface="+mj-lt"/>
                        </a:rPr>
                        <a:t>ClientMain.java</a:t>
                      </a:r>
                      <a:endParaRPr lang="en-US" sz="1600" b="1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1. </a:t>
                      </a:r>
                      <a:r>
                        <a:rPr lang="ko-KR" altLang="en-US" sz="1600" b="0">
                          <a:latin typeface="+mj-lt"/>
                        </a:rPr>
                        <a:t>클라이언트 시작점</a:t>
                      </a:r>
                      <a:r>
                        <a:rPr lang="en-US" altLang="ko-KR" sz="1600" b="0">
                          <a:latin typeface="+mj-lt"/>
                        </a:rPr>
                        <a:t>: main</a:t>
                      </a:r>
                      <a:r>
                        <a:rPr lang="ko-KR" altLang="en-US" sz="1600" b="0">
                          <a:latin typeface="+mj-lt"/>
                        </a:rPr>
                        <a:t> 메서드에서 </a:t>
                      </a:r>
                      <a:r>
                        <a:rPr lang="en-US" altLang="ko-KR" sz="1600" b="0">
                          <a:latin typeface="+mj-lt"/>
                        </a:rPr>
                        <a:t>StartFrame</a:t>
                      </a:r>
                      <a:r>
                        <a:rPr lang="ko-KR" altLang="en-US" sz="1600" b="0">
                          <a:latin typeface="+mj-lt"/>
                        </a:rPr>
                        <a:t>을 실행합니다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824865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sz="1600">
                          <a:latin typeface="+mj-lt"/>
                        </a:rPr>
                        <a:t>StartFrame.java</a:t>
                      </a:r>
                      <a:endParaRPr lang="en-US" sz="160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2. </a:t>
                      </a:r>
                      <a:r>
                        <a:rPr lang="ko-KR" altLang="en-US" sz="1600" b="0">
                          <a:latin typeface="+mj-lt"/>
                        </a:rPr>
                        <a:t>연결 정보 입력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사용자에게 </a:t>
                      </a:r>
                      <a:r>
                        <a:rPr lang="en-US" altLang="ko-KR" sz="1600" b="0">
                          <a:latin typeface="+mj-lt"/>
                        </a:rPr>
                        <a:t>Host, Port, Name</a:t>
                      </a:r>
                      <a:r>
                        <a:rPr lang="ko-KR" altLang="en-US" sz="1600" b="0">
                          <a:latin typeface="+mj-lt"/>
                        </a:rPr>
                        <a:t>을 입력받고 </a:t>
                      </a:r>
                      <a:r>
                        <a:rPr lang="en-US" altLang="ko-KR" sz="1600" b="0">
                          <a:latin typeface="+mj-lt"/>
                        </a:rPr>
                        <a:t>'Connect'</a:t>
                      </a:r>
                      <a:r>
                        <a:rPr lang="ko-KR" altLang="en-US" sz="1600" b="0">
                          <a:latin typeface="+mj-lt"/>
                        </a:rPr>
                        <a:t>를 누르면 </a:t>
                      </a:r>
                      <a:r>
                        <a:rPr lang="en-US" altLang="ko-KR" sz="1600" b="0">
                          <a:latin typeface="+mj-lt"/>
                        </a:rPr>
                        <a:t>connect()</a:t>
                      </a:r>
                      <a:r>
                        <a:rPr lang="ko-KR" altLang="en-US" sz="1600" b="0">
                          <a:latin typeface="+mj-lt"/>
                        </a:rPr>
                        <a:t> 메서드가 호출됩니다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824865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3. </a:t>
                      </a:r>
                      <a:r>
                        <a:rPr lang="ko-KR" altLang="en-US" sz="1600" b="0">
                          <a:latin typeface="+mj-lt"/>
                        </a:rPr>
                        <a:t>로비 진입</a:t>
                      </a:r>
                      <a:r>
                        <a:rPr lang="en-US" altLang="ko-KR" sz="1600" b="0">
                          <a:latin typeface="+mj-lt"/>
                        </a:rPr>
                        <a:t>: RoomFrame</a:t>
                      </a:r>
                      <a:r>
                        <a:rPr lang="ko-KR" altLang="en-US" sz="1600" b="0">
                          <a:latin typeface="+mj-lt"/>
                        </a:rPr>
                        <a:t> 인스턴스를 생성하며 서버 연결을 시도하고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성공 시 </a:t>
                      </a:r>
                      <a:r>
                        <a:rPr lang="en-US" altLang="ko-KR" sz="1600" b="0">
                          <a:latin typeface="+mj-lt"/>
                        </a:rPr>
                        <a:t>RoomFrame</a:t>
                      </a:r>
                      <a:r>
                        <a:rPr lang="ko-KR" altLang="en-US" sz="1600" b="0">
                          <a:latin typeface="+mj-lt"/>
                        </a:rPr>
                        <a:t>을 표시하고 자신은 종료됩니다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824865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sz="1600">
                          <a:latin typeface="+mj-lt"/>
                        </a:rPr>
                        <a:t>NetworkClient.java</a:t>
                      </a:r>
                      <a:endParaRPr lang="en-US" sz="160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4. </a:t>
                      </a:r>
                      <a:r>
                        <a:rPr lang="ko-KR" altLang="en-US" sz="1600" b="0">
                          <a:latin typeface="+mj-lt"/>
                        </a:rPr>
                        <a:t>서버 연결</a:t>
                      </a:r>
                      <a:r>
                        <a:rPr lang="en-US" altLang="ko-KR" sz="1600" b="0">
                          <a:latin typeface="+mj-lt"/>
                        </a:rPr>
                        <a:t>: connect()</a:t>
                      </a:r>
                      <a:r>
                        <a:rPr lang="ko-KR" altLang="en-US" sz="1600" b="0">
                          <a:latin typeface="+mj-lt"/>
                        </a:rPr>
                        <a:t> 메서드에서 </a:t>
                      </a:r>
                      <a:r>
                        <a:rPr lang="en-US" altLang="ko-KR" sz="1600" b="0">
                          <a:latin typeface="+mj-lt"/>
                        </a:rPr>
                        <a:t>Socket</a:t>
                      </a:r>
                      <a:r>
                        <a:rPr lang="ko-KR" altLang="en-US" sz="1600" b="0">
                          <a:latin typeface="+mj-lt"/>
                        </a:rPr>
                        <a:t> 연결을 수립하고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서버와 </a:t>
                      </a:r>
                      <a:r>
                        <a:rPr lang="en-US" altLang="ko-KR" sz="1600" b="0">
                          <a:latin typeface="+mj-lt"/>
                        </a:rPr>
                        <a:t>HELLO</a:t>
                      </a:r>
                      <a:r>
                        <a:rPr lang="ko-KR" altLang="en-US" sz="1600" b="0">
                          <a:latin typeface="+mj-lt"/>
                        </a:rPr>
                        <a:t> 프로토콜을 교환하여 닉네임을 전송합니다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86442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>
                        <a:latin typeface="+mj-lt"/>
                        <a:ea typeface="+mj-ea"/>
                        <a:cs typeface="+mj-cs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5. </a:t>
                      </a:r>
                      <a:r>
                        <a:rPr lang="ko-KR" altLang="en-US" sz="1600" b="0">
                          <a:latin typeface="+mj-lt"/>
                        </a:rPr>
                        <a:t>리스너 시작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서버로부터 메시지를 비동기적으로 수신하기 위해 </a:t>
                      </a:r>
                      <a:r>
                        <a:rPr lang="en-US" altLang="ko-KR" sz="1600" b="0">
                          <a:latin typeface="+mj-lt"/>
                        </a:rPr>
                        <a:t>listen()</a:t>
                      </a:r>
                      <a:r>
                        <a:rPr lang="ko-KR" altLang="en-US" sz="1600" b="0">
                          <a:latin typeface="+mj-lt"/>
                        </a:rPr>
                        <a:t> 스레드를 시작합니다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033499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0" name="Freeform 10"/>
          <p:cNvSpPr/>
          <p:nvPr/>
        </p:nvSpPr>
        <p:spPr>
          <a:xfrm>
            <a:off x="1389943" y="1176191"/>
            <a:ext cx="556995" cy="139249"/>
          </a:xfrm>
          <a:custGeom>
            <a:avLst/>
            <a:gd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278896" y="8211079"/>
            <a:ext cx="1657828" cy="1693338"/>
          </a:xfrm>
          <a:custGeom>
            <a:avLst/>
            <a:gdLst/>
            <a:rect l="l" t="t" r="r" b="b"/>
            <a:pathLst>
              <a:path w="1657828" h="1693338">
                <a:moveTo>
                  <a:pt x="0" y="0"/>
                </a:moveTo>
                <a:lnTo>
                  <a:pt x="1657828" y="0"/>
                </a:lnTo>
                <a:lnTo>
                  <a:pt x="1657828" y="1693338"/>
                </a:lnTo>
                <a:lnTo>
                  <a:pt x="0" y="1693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166790" r="-288280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67886" y="2202332"/>
            <a:ext cx="7152228" cy="5408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실행 순서</a:t>
            </a:r>
            <a:endParaRPr lang="ko-KR" altLang="en-US" sz="7669">
              <a:solidFill>
                <a:schemeClr val="dk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grpSp>
        <p:nvGrpSpPr>
          <p:cNvPr id="37" name="Group 10"/>
          <p:cNvGrpSpPr/>
          <p:nvPr/>
        </p:nvGrpSpPr>
        <p:grpSpPr>
          <a:xfrm rot="0">
            <a:off x="2362200" y="3009900"/>
            <a:ext cx="13334999" cy="6172200"/>
            <a:chOff x="0" y="0"/>
            <a:chExt cx="2881023" cy="1058846"/>
          </a:xfrm>
        </p:grpSpPr>
        <p:sp>
          <p:nvSpPr>
            <p:cNvPr id="38" name="Freeform 11"/>
            <p:cNvSpPr/>
            <p:nvPr/>
          </p:nvSpPr>
          <p:spPr>
            <a:xfrm>
              <a:off x="0" y="0"/>
              <a:ext cx="2881023" cy="1058846"/>
            </a:xfrm>
            <a:custGeom>
              <a:avLst/>
              <a:gdLst/>
              <a:rect l="l" t="t" r="r" b="b"/>
              <a:pathLst>
                <a:path w="2881023" h="1058846">
                  <a:moveTo>
                    <a:pt x="16278" y="0"/>
                  </a:moveTo>
                  <a:lnTo>
                    <a:pt x="2864745" y="0"/>
                  </a:lnTo>
                  <a:cubicBezTo>
                    <a:pt x="2869062" y="0"/>
                    <a:pt x="2873203" y="1715"/>
                    <a:pt x="2876256" y="4768"/>
                  </a:cubicBezTo>
                  <a:cubicBezTo>
                    <a:pt x="2879308" y="7820"/>
                    <a:pt x="2881023" y="11961"/>
                    <a:pt x="2881023" y="16278"/>
                  </a:cubicBezTo>
                  <a:lnTo>
                    <a:pt x="2881023" y="1042568"/>
                  </a:lnTo>
                  <a:cubicBezTo>
                    <a:pt x="2881023" y="1051558"/>
                    <a:pt x="2873735" y="1058846"/>
                    <a:pt x="2864745" y="1058846"/>
                  </a:cubicBezTo>
                  <a:lnTo>
                    <a:pt x="16278" y="1058846"/>
                  </a:lnTo>
                  <a:cubicBezTo>
                    <a:pt x="7288" y="1058846"/>
                    <a:pt x="0" y="1051558"/>
                    <a:pt x="0" y="1042568"/>
                  </a:cubicBezTo>
                  <a:lnTo>
                    <a:pt x="0" y="16278"/>
                  </a:lnTo>
                  <a:cubicBezTo>
                    <a:pt x="0" y="7288"/>
                    <a:pt x="7288" y="0"/>
                    <a:pt x="162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TextBox 12"/>
            <p:cNvSpPr txBox="1"/>
            <p:nvPr/>
          </p:nvSpPr>
          <p:spPr>
            <a:xfrm>
              <a:off x="0" y="-47625"/>
              <a:ext cx="2881023" cy="110647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40" name="가로 글상자 39"/>
          <p:cNvSpPr txBox="1"/>
          <p:nvPr/>
        </p:nvSpPr>
        <p:spPr>
          <a:xfrm>
            <a:off x="4038600" y="3817620"/>
            <a:ext cx="9144000" cy="36195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latinLnBrk="0">
              <a:buNone/>
              <a:defRPr/>
            </a:pPr>
            <a:endParaRPr lang="en-US" altLang="ko-KR"/>
          </a:p>
        </p:txBody>
      </p:sp>
      <p:sp>
        <p:nvSpPr>
          <p:cNvPr id="41" name="TextBox 36"/>
          <p:cNvSpPr txBox="1"/>
          <p:nvPr/>
        </p:nvSpPr>
        <p:spPr>
          <a:xfrm>
            <a:off x="2666998" y="3288090"/>
            <a:ext cx="12725399" cy="7124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>
              <a:buNone/>
              <a:defRPr/>
            </a:pPr>
            <a:r>
              <a:rPr lang="en-US" altLang="ko-KR" sz="2500" b="1"/>
              <a:t>2-2 </a:t>
            </a:r>
            <a:r>
              <a:rPr lang="ko-KR" altLang="en-US" sz="2500" b="1"/>
              <a:t>클라이언트 연결 및 로비 진입 </a:t>
            </a:r>
            <a:r>
              <a:rPr lang="en-US" altLang="ko-KR" sz="2500" b="1"/>
              <a:t>(Client Connection &amp; Lobby)</a:t>
            </a:r>
            <a:endParaRPr lang="en-US" altLang="ko-KR" sz="2500" b="1"/>
          </a:p>
          <a:p>
            <a:pPr marL="357000" lvl="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200">
                <a:latin typeface="+mj-lt"/>
              </a:rPr>
              <a:t>두 명의 클라이언트가 서버에 연결되어 게임 대기방</a:t>
            </a:r>
            <a:r>
              <a:rPr lang="en-US" altLang="ko-KR" sz="2200">
                <a:latin typeface="+mj-lt"/>
              </a:rPr>
              <a:t>(RoomFrame)</a:t>
            </a:r>
            <a:r>
              <a:rPr lang="ko-KR" altLang="en-US" sz="2200">
                <a:latin typeface="+mj-lt"/>
              </a:rPr>
              <a:t>에 진입하는 단계</a:t>
            </a:r>
            <a:endParaRPr lang="ko-KR" altLang="en-US" sz="2200"/>
          </a:p>
        </p:txBody>
      </p:sp>
      <p:graphicFrame>
        <p:nvGraphicFramePr>
          <p:cNvPr id="44" name="표 43"/>
          <p:cNvGraphicFramePr>
            <a:graphicFrameLocks noGrp="1"/>
          </p:cNvGraphicFramePr>
          <p:nvPr/>
        </p:nvGraphicFramePr>
        <p:xfrm>
          <a:off x="3352800" y="4229100"/>
          <a:ext cx="11582400" cy="4191000"/>
        </p:xfrm>
        <a:graphic>
          <a:graphicData uri="http://schemas.openxmlformats.org/drawingml/2006/table">
            <a:tbl>
              <a:tblPr firstRow="1" bandRow="1">
                <a:tableStyle styleId="{5940675A-B579-460E-94D1-54222C63F5DA}" styleName="스타일 없음, 표 눈금">
                  <a:wholeTbl>
                    <a:tcTxStyle>
                      <a:fontRef idx="minor">
                        <a:scrgbClr r="0" g="0" b="0"/>
                      </a:fontRef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tx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tx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tx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tx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tx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tx1"/>
                            </a:solidFill>
                          </a:ln>
                        </a:insideV>
                      </a:tcBdr>
                      <a:fill>
                        <a:noFill/>
                      </a:fill>
                    </a:tcStyle>
                  </a:wholeTbl>
                </a:tableStyle>
              </a:tblPr>
              <a:tblGrid>
                <a:gridCol w="4343400"/>
                <a:gridCol w="7239000"/>
              </a:tblGrid>
              <a:tr h="561975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파일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역할 및 실행 순서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77215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ServerCore.java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6. </a:t>
                      </a:r>
                      <a:r>
                        <a:rPr lang="ko-KR" altLang="en-US" sz="1600" b="0">
                          <a:latin typeface="+mj-lt"/>
                        </a:rPr>
                        <a:t>클라이언트 수락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두 클라이언트</a:t>
                      </a:r>
                      <a:r>
                        <a:rPr lang="en-US" altLang="ko-KR" sz="1600" b="0">
                          <a:latin typeface="+mj-lt"/>
                        </a:rPr>
                        <a:t>(P1, P2)</a:t>
                      </a:r>
                      <a:r>
                        <a:rPr lang="ko-KR" altLang="en-US" sz="1600" b="0">
                          <a:latin typeface="+mj-lt"/>
                        </a:rPr>
                        <a:t>의 연결을 수락하고 닉네임을 확인합니다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824865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7. </a:t>
                      </a:r>
                      <a:r>
                        <a:rPr lang="ko-KR" altLang="en-US" sz="1600" b="0">
                          <a:latin typeface="+mj-lt"/>
                        </a:rPr>
                        <a:t>핸들러 및 룸 생성</a:t>
                      </a:r>
                      <a:r>
                        <a:rPr lang="en-US" altLang="ko-KR" sz="1600" b="0">
                          <a:latin typeface="+mj-lt"/>
                        </a:rPr>
                        <a:t>: P1, P2 </a:t>
                      </a:r>
                      <a:r>
                        <a:rPr lang="ko-KR" altLang="en-US" sz="1600" b="0">
                          <a:latin typeface="+mj-lt"/>
                        </a:rPr>
                        <a:t>각각 </a:t>
                      </a:r>
                      <a:r>
                        <a:rPr lang="en-US" altLang="ko-KR" sz="1600" b="0">
                          <a:latin typeface="+mj-lt"/>
                        </a:rPr>
                        <a:t>ClientHandler</a:t>
                      </a:r>
                      <a:r>
                        <a:rPr lang="ko-KR" altLang="en-US" sz="1600" b="0">
                          <a:latin typeface="+mj-lt"/>
                        </a:rPr>
                        <a:t>를 생성하고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두 핸들러를 묶어 </a:t>
                      </a:r>
                      <a:r>
                        <a:rPr lang="en-US" altLang="ko-KR" sz="1600" b="0">
                          <a:latin typeface="+mj-lt"/>
                        </a:rPr>
                        <a:t>Room</a:t>
                      </a:r>
                      <a:r>
                        <a:rPr lang="ko-KR" altLang="en-US" sz="1600" b="0">
                          <a:latin typeface="+mj-lt"/>
                        </a:rPr>
                        <a:t> 인스턴스를 생성합니다</a:t>
                      </a:r>
                      <a:r>
                        <a:rPr lang="en-US" altLang="ko-KR" sz="1600" b="0">
                          <a:latin typeface="+mj-lt"/>
                        </a:rPr>
                        <a:t>. </a:t>
                      </a:r>
                      <a:r>
                        <a:rPr lang="ko-KR" altLang="en-US" sz="1600" b="0">
                          <a:latin typeface="+mj-lt"/>
                        </a:rPr>
                        <a:t>각 핸들러 스레드를 시작합니다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824865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Room.java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8. </a:t>
                      </a:r>
                      <a:r>
                        <a:rPr lang="ko-KR" altLang="en-US" sz="1600" b="0">
                          <a:latin typeface="+mj-lt"/>
                        </a:rPr>
                        <a:t>로비 알림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en-US" sz="1600" b="0">
                          <a:latin typeface="+mj-lt"/>
                        </a:rPr>
                        <a:t>announceCreatedAndReady()</a:t>
                      </a:r>
                      <a:r>
                        <a:rPr lang="ko-KR" altLang="en-US" sz="1600" b="0">
                          <a:latin typeface="+mj-lt"/>
                        </a:rPr>
                        <a:t>를 통해 두 클라이언트에게 </a:t>
                      </a:r>
                      <a:r>
                        <a:rPr lang="en-US" sz="1600" b="0">
                          <a:latin typeface="+mj-lt"/>
                        </a:rPr>
                        <a:t>ROOM_CREATED </a:t>
                      </a:r>
                      <a:r>
                        <a:rPr lang="ko-KR" altLang="en-US" sz="1600" b="0">
                          <a:latin typeface="+mj-lt"/>
                        </a:rPr>
                        <a:t>및 </a:t>
                      </a:r>
                      <a:r>
                        <a:rPr lang="en-US" sz="1600" b="0">
                          <a:latin typeface="+mj-lt"/>
                        </a:rPr>
                        <a:t>ENTER_ROOM </a:t>
                      </a:r>
                      <a:r>
                        <a:rPr lang="ko-KR" altLang="en-US" sz="1600" b="0">
                          <a:latin typeface="+mj-lt"/>
                        </a:rPr>
                        <a:t>메시지를 방송합니다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824865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RoomFrame.java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9. </a:t>
                      </a:r>
                      <a:r>
                        <a:rPr lang="ko-KR" altLang="en-US" sz="1600" b="0">
                          <a:latin typeface="+mj-lt"/>
                        </a:rPr>
                        <a:t>로비 상태 표시</a:t>
                      </a:r>
                      <a:r>
                        <a:rPr lang="en-US" altLang="ko-KR" sz="1600" b="0">
                          <a:latin typeface="+mj-lt"/>
                        </a:rPr>
                        <a:t>: handleServerLine</a:t>
                      </a:r>
                      <a:r>
                        <a:rPr lang="ko-KR" altLang="en-US" sz="1600" b="0">
                          <a:latin typeface="+mj-lt"/>
                        </a:rPr>
                        <a:t> 메서드에서 </a:t>
                      </a:r>
                      <a:r>
                        <a:rPr lang="en-US" altLang="ko-KR" sz="1600" b="0">
                          <a:latin typeface="+mj-lt"/>
                        </a:rPr>
                        <a:t>ENTER_ROOM</a:t>
                      </a:r>
                      <a:r>
                        <a:rPr lang="ko-KR" altLang="en-US" sz="1600" b="0">
                          <a:latin typeface="+mj-lt"/>
                        </a:rPr>
                        <a:t> 메시지를 수신하여 </a:t>
                      </a:r>
                      <a:r>
                        <a:rPr lang="en-US" altLang="ko-KR" sz="1600" b="0">
                          <a:latin typeface="+mj-lt"/>
                        </a:rPr>
                        <a:t>Ready </a:t>
                      </a:r>
                      <a:r>
                        <a:rPr lang="ko-KR" altLang="en-US" sz="1600" b="0">
                          <a:latin typeface="+mj-lt"/>
                        </a:rPr>
                        <a:t>버튼을 활성화하고 상태를 표시합니다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77215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ServerCore.java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6. </a:t>
                      </a:r>
                      <a:r>
                        <a:rPr lang="ko-KR" altLang="en-US" sz="1600" b="0">
                          <a:latin typeface="+mj-lt"/>
                        </a:rPr>
                        <a:t>클라이언트 수락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두 클라이언트</a:t>
                      </a:r>
                      <a:r>
                        <a:rPr lang="en-US" altLang="ko-KR" sz="1600" b="0">
                          <a:latin typeface="+mj-lt"/>
                        </a:rPr>
                        <a:t>(P1, P2)</a:t>
                      </a:r>
                      <a:r>
                        <a:rPr lang="ko-KR" altLang="en-US" sz="1600" b="0">
                          <a:latin typeface="+mj-lt"/>
                        </a:rPr>
                        <a:t>의 연결을 수락하고 닉네임을 확인합니다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851652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0" name="Freeform 10"/>
          <p:cNvSpPr/>
          <p:nvPr/>
        </p:nvSpPr>
        <p:spPr>
          <a:xfrm>
            <a:off x="1389943" y="1176191"/>
            <a:ext cx="556995" cy="139249"/>
          </a:xfrm>
          <a:custGeom>
            <a:avLst/>
            <a:gd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278896" y="8211079"/>
            <a:ext cx="1657828" cy="1693338"/>
          </a:xfrm>
          <a:custGeom>
            <a:avLst/>
            <a:gdLst/>
            <a:rect l="l" t="t" r="r" b="b"/>
            <a:pathLst>
              <a:path w="1657828" h="1693338">
                <a:moveTo>
                  <a:pt x="0" y="0"/>
                </a:moveTo>
                <a:lnTo>
                  <a:pt x="1657828" y="0"/>
                </a:lnTo>
                <a:lnTo>
                  <a:pt x="1657828" y="1693338"/>
                </a:lnTo>
                <a:lnTo>
                  <a:pt x="0" y="1693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166790" r="-288280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67886" y="2202332"/>
            <a:ext cx="7152228" cy="5408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실행 순서</a:t>
            </a:r>
            <a:endParaRPr lang="ko-KR" altLang="en-US" sz="7669">
              <a:solidFill>
                <a:schemeClr val="dk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grpSp>
        <p:nvGrpSpPr>
          <p:cNvPr id="37" name="Group 10"/>
          <p:cNvGrpSpPr/>
          <p:nvPr/>
        </p:nvGrpSpPr>
        <p:grpSpPr>
          <a:xfrm rot="0">
            <a:off x="2362200" y="3009900"/>
            <a:ext cx="13334999" cy="6172200"/>
            <a:chOff x="0" y="0"/>
            <a:chExt cx="2881023" cy="1058846"/>
          </a:xfrm>
        </p:grpSpPr>
        <p:sp>
          <p:nvSpPr>
            <p:cNvPr id="38" name="Freeform 11"/>
            <p:cNvSpPr/>
            <p:nvPr/>
          </p:nvSpPr>
          <p:spPr>
            <a:xfrm>
              <a:off x="0" y="0"/>
              <a:ext cx="2881023" cy="1058846"/>
            </a:xfrm>
            <a:custGeom>
              <a:avLst/>
              <a:gdLst/>
              <a:rect l="l" t="t" r="r" b="b"/>
              <a:pathLst>
                <a:path w="2881023" h="1058846">
                  <a:moveTo>
                    <a:pt x="16278" y="0"/>
                  </a:moveTo>
                  <a:lnTo>
                    <a:pt x="2864745" y="0"/>
                  </a:lnTo>
                  <a:cubicBezTo>
                    <a:pt x="2869062" y="0"/>
                    <a:pt x="2873203" y="1715"/>
                    <a:pt x="2876256" y="4768"/>
                  </a:cubicBezTo>
                  <a:cubicBezTo>
                    <a:pt x="2879308" y="7820"/>
                    <a:pt x="2881023" y="11961"/>
                    <a:pt x="2881023" y="16278"/>
                  </a:cubicBezTo>
                  <a:lnTo>
                    <a:pt x="2881023" y="1042568"/>
                  </a:lnTo>
                  <a:cubicBezTo>
                    <a:pt x="2881023" y="1051558"/>
                    <a:pt x="2873735" y="1058846"/>
                    <a:pt x="2864745" y="1058846"/>
                  </a:cubicBezTo>
                  <a:lnTo>
                    <a:pt x="16278" y="1058846"/>
                  </a:lnTo>
                  <a:cubicBezTo>
                    <a:pt x="7288" y="1058846"/>
                    <a:pt x="0" y="1051558"/>
                    <a:pt x="0" y="1042568"/>
                  </a:cubicBezTo>
                  <a:lnTo>
                    <a:pt x="0" y="16278"/>
                  </a:lnTo>
                  <a:cubicBezTo>
                    <a:pt x="0" y="7288"/>
                    <a:pt x="7288" y="0"/>
                    <a:pt x="162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TextBox 12"/>
            <p:cNvSpPr txBox="1"/>
            <p:nvPr/>
          </p:nvSpPr>
          <p:spPr>
            <a:xfrm>
              <a:off x="0" y="-47625"/>
              <a:ext cx="2881023" cy="110647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40" name="가로 글상자 39"/>
          <p:cNvSpPr txBox="1"/>
          <p:nvPr/>
        </p:nvSpPr>
        <p:spPr>
          <a:xfrm>
            <a:off x="4038600" y="3817620"/>
            <a:ext cx="9144000" cy="36195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latinLnBrk="0">
              <a:buNone/>
              <a:defRPr/>
            </a:pPr>
            <a:endParaRPr lang="en-US" altLang="ko-KR"/>
          </a:p>
        </p:txBody>
      </p:sp>
      <p:sp>
        <p:nvSpPr>
          <p:cNvPr id="41" name="TextBox 36"/>
          <p:cNvSpPr txBox="1"/>
          <p:nvPr/>
        </p:nvSpPr>
        <p:spPr>
          <a:xfrm>
            <a:off x="2666997" y="3288090"/>
            <a:ext cx="12725399" cy="37903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>
              <a:buNone/>
              <a:defRPr/>
            </a:pPr>
            <a:r>
              <a:rPr lang="en-US" altLang="ko-KR" sz="2500" b="1"/>
              <a:t>2-3. </a:t>
            </a:r>
            <a:r>
              <a:rPr lang="ko-KR" altLang="en-US" sz="2500" b="1"/>
              <a:t>게임 시작 및 진행 </a:t>
            </a:r>
            <a:r>
              <a:rPr lang="en-US" altLang="ko-KR" sz="2500" b="1"/>
              <a:t>(Game Start and Gameplay)</a:t>
            </a:r>
            <a:endParaRPr lang="ko-KR" altLang="en-US" sz="2500"/>
          </a:p>
        </p:txBody>
      </p:sp>
      <p:graphicFrame>
        <p:nvGraphicFramePr>
          <p:cNvPr id="45" name="표 44"/>
          <p:cNvGraphicFramePr>
            <a:graphicFrameLocks noGrp="1"/>
          </p:cNvGraphicFramePr>
          <p:nvPr/>
        </p:nvGraphicFramePr>
        <p:xfrm>
          <a:off x="3695700" y="3870084"/>
          <a:ext cx="10896600" cy="5083416"/>
        </p:xfrm>
        <a:graphic>
          <a:graphicData uri="http://schemas.openxmlformats.org/drawingml/2006/table">
            <a:tbl>
              <a:tblPr firstRow="1" bandRow="1">
                <a:tableStyle styleId="{5940675A-B579-460E-94D1-54222C63F5DA}" styleName="스타일 없음, 표 눈금">
                  <a:wholeTbl>
                    <a:tcTxStyle>
                      <a:fontRef idx="minor">
                        <a:scrgbClr r="0" g="0" b="0"/>
                      </a:fontRef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tx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tx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tx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tx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tx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tx1"/>
                            </a:solidFill>
                          </a:ln>
                        </a:insideV>
                      </a:tcBdr>
                      <a:fill>
                        <a:noFill/>
                      </a:fill>
                    </a:tcStyle>
                  </a:wholeTbl>
                </a:tableStyle>
              </a:tblPr>
              <a:tblGrid>
                <a:gridCol w="1589087"/>
                <a:gridCol w="2716212"/>
                <a:gridCol w="6591300"/>
              </a:tblGrid>
              <a:tr h="648679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단계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파일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주요 로직 및 프로토콜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648679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게임방 진입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RoomFrame.java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7. GAME_START</a:t>
                      </a:r>
                      <a:r>
                        <a:rPr lang="ko-KR" altLang="en-US" sz="1600" b="0">
                          <a:latin typeface="+mj-lt"/>
                        </a:rPr>
                        <a:t> 수신 후 </a:t>
                      </a:r>
                      <a:r>
                        <a:rPr lang="en-US" altLang="ko-KR" sz="1600" b="0">
                          <a:latin typeface="+mj-lt"/>
                        </a:rPr>
                        <a:t>GameRoomFrame</a:t>
                      </a:r>
                      <a:r>
                        <a:rPr lang="ko-KR" altLang="en-US" sz="1600" b="0">
                          <a:latin typeface="+mj-lt"/>
                        </a:rPr>
                        <a:t> 인스턴스를 생성하고 표시합니다</a:t>
                      </a:r>
                      <a:r>
                        <a:rPr lang="en-US" altLang="ko-KR" sz="1600" b="0">
                          <a:latin typeface="+mj-lt"/>
                        </a:rPr>
                        <a:t>. </a:t>
                      </a:r>
                      <a:r>
                        <a:rPr lang="ko-KR" altLang="en-US" sz="1600" b="0">
                          <a:latin typeface="+mj-lt"/>
                        </a:rPr>
                        <a:t>기존 </a:t>
                      </a:r>
                      <a:r>
                        <a:rPr lang="en-US" altLang="ko-KR" sz="1600" b="0">
                          <a:latin typeface="+mj-lt"/>
                        </a:rPr>
                        <a:t>RoomFrame</a:t>
                      </a:r>
                      <a:r>
                        <a:rPr lang="ko-KR" altLang="en-US" sz="1600" b="0">
                          <a:latin typeface="+mj-lt"/>
                        </a:rPr>
                        <a:t>은 종료됩니다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90659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GameRoomFrame.java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8. NetworkClient</a:t>
                      </a:r>
                      <a:r>
                        <a:rPr lang="ko-KR" altLang="en-US" sz="1600" b="0">
                          <a:latin typeface="+mj-lt"/>
                        </a:rPr>
                        <a:t>의 리스너를 자신의 </a:t>
                      </a:r>
                      <a:r>
                        <a:rPr lang="en-US" altLang="ko-KR" sz="1600" b="0">
                          <a:latin typeface="+mj-lt"/>
                        </a:rPr>
                        <a:t>getLineConsumer()</a:t>
                      </a:r>
                      <a:r>
                        <a:rPr lang="ko-KR" altLang="en-US" sz="1600" b="0">
                          <a:latin typeface="+mj-lt"/>
                        </a:rPr>
                        <a:t>로 교체하여 게임 메시지를 처리하도록 설정합니다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90659">
                <a:tc rowSpan="4"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게임 진행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GameRoomFrame.java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9. </a:t>
                      </a:r>
                      <a:r>
                        <a:rPr lang="ko-KR" altLang="en-US" sz="1600" b="0">
                          <a:latin typeface="+mj-lt"/>
                        </a:rPr>
                        <a:t>조작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키 바인딩을 통해 </a:t>
                      </a:r>
                      <a:r>
                        <a:rPr lang="en-US" altLang="ko-KR" sz="1600" b="0">
                          <a:latin typeface="+mj-lt"/>
                        </a:rPr>
                        <a:t>AIM</a:t>
                      </a:r>
                      <a:r>
                        <a:rPr lang="ko-KR" altLang="en-US" sz="1600" b="0">
                          <a:latin typeface="+mj-lt"/>
                        </a:rPr>
                        <a:t> </a:t>
                      </a:r>
                      <a:r>
                        <a:rPr lang="en-US" altLang="ko-KR" sz="1600" b="0">
                          <a:latin typeface="+mj-lt"/>
                        </a:rPr>
                        <a:t>(SELF/ENEMY) </a:t>
                      </a:r>
                      <a:r>
                        <a:rPr lang="ko-KR" altLang="en-US" sz="1600" b="0">
                          <a:latin typeface="+mj-lt"/>
                        </a:rPr>
                        <a:t>또는 </a:t>
                      </a:r>
                      <a:r>
                        <a:rPr lang="en-US" altLang="ko-KR" sz="1600" b="0">
                          <a:latin typeface="+mj-lt"/>
                        </a:rPr>
                        <a:t>FIRE</a:t>
                      </a:r>
                      <a:r>
                        <a:rPr lang="ko-KR" altLang="en-US" sz="1600" b="0">
                          <a:latin typeface="+mj-lt"/>
                        </a:rPr>
                        <a:t> 프로토콜을 서버로 전송합니다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90659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10. </a:t>
                      </a:r>
                      <a:r>
                        <a:rPr lang="ko-KR" altLang="en-US" sz="1600" b="0">
                          <a:latin typeface="+mj-lt"/>
                        </a:rPr>
                        <a:t>아이템 사용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숫자 키</a:t>
                      </a:r>
                      <a:r>
                        <a:rPr lang="en-US" altLang="ko-KR" sz="1600" b="0">
                          <a:latin typeface="+mj-lt"/>
                        </a:rPr>
                        <a:t>(1-6)</a:t>
                      </a:r>
                      <a:r>
                        <a:rPr lang="ko-KR" altLang="en-US" sz="1600" b="0">
                          <a:latin typeface="+mj-lt"/>
                        </a:rPr>
                        <a:t>를 눌러 </a:t>
                      </a:r>
                      <a:r>
                        <a:rPr lang="en-US" altLang="ko-KR" sz="1600" b="0">
                          <a:latin typeface="+mj-lt"/>
                        </a:rPr>
                        <a:t>USE_ITEM SLOT=X</a:t>
                      </a:r>
                      <a:r>
                        <a:rPr lang="ko-KR" altLang="en-US" sz="1600" b="0">
                          <a:latin typeface="+mj-lt"/>
                        </a:rPr>
                        <a:t> 프로토콜을 전송합니다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90659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Room.java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11. </a:t>
                      </a:r>
                      <a:r>
                        <a:rPr lang="ko-KR" altLang="en-US" sz="1600" b="0">
                          <a:latin typeface="+mj-lt"/>
                        </a:rPr>
                        <a:t>서버 처리</a:t>
                      </a:r>
                      <a:r>
                        <a:rPr lang="en-US" altLang="ko-KR" sz="1600" b="0">
                          <a:latin typeface="+mj-lt"/>
                        </a:rPr>
                        <a:t>: onAim(), onFire(), onUseItem()</a:t>
                      </a:r>
                      <a:r>
                        <a:rPr lang="ko-KR" altLang="en-US" sz="1600" b="0">
                          <a:latin typeface="+mj-lt"/>
                        </a:rPr>
                        <a:t> 메서드에서 턴 확인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조준 확인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탄창 처리</a:t>
                      </a:r>
                      <a:r>
                        <a:rPr lang="en-US" altLang="ko-KR" sz="1600" b="0">
                          <a:latin typeface="+mj-lt"/>
                        </a:rPr>
                        <a:t>, HP </a:t>
                      </a:r>
                      <a:r>
                        <a:rPr lang="ko-KR" altLang="en-US" sz="1600" b="0">
                          <a:latin typeface="+mj-lt"/>
                        </a:rPr>
                        <a:t>증감 로직을 수행합니다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837417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12. </a:t>
                      </a:r>
                      <a:r>
                        <a:rPr lang="ko-KR" altLang="en-US" sz="1600" b="0">
                          <a:latin typeface="+mj-lt"/>
                        </a:rPr>
                        <a:t>결과 방송</a:t>
                      </a:r>
                      <a:r>
                        <a:rPr lang="en-US" altLang="ko-KR" sz="1600" b="0">
                          <a:latin typeface="+mj-lt"/>
                        </a:rPr>
                        <a:t>: FIRE_RESOLVE, ITEM_UPDATE, TURN</a:t>
                      </a:r>
                      <a:r>
                        <a:rPr lang="ko-KR" altLang="en-US" sz="1600" b="0">
                          <a:latin typeface="+mj-lt"/>
                        </a:rPr>
                        <a:t> 등의 프로토콜을 클라이언트에게 방송하여 화면 업데이트를 유도합니다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585999"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sz="1600" b="0">
                          <a:latin typeface="+mj-lt"/>
                        </a:rPr>
                        <a:t>게임 종료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sz="1600" b="0">
                          <a:latin typeface="+mj-lt"/>
                        </a:rPr>
                        <a:t>Room.java</a:t>
                      </a:r>
                      <a:endParaRPr 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13. HP</a:t>
                      </a:r>
                      <a:r>
                        <a:rPr lang="ko-KR" altLang="en-US" sz="1600" b="0">
                          <a:latin typeface="+mj-lt"/>
                        </a:rPr>
                        <a:t>가 </a:t>
                      </a:r>
                      <a:r>
                        <a:rPr lang="en-US" altLang="ko-KR" sz="1600" b="0">
                          <a:latin typeface="+mj-lt"/>
                        </a:rPr>
                        <a:t>0 </a:t>
                      </a:r>
                      <a:r>
                        <a:rPr lang="ko-KR" altLang="en-US" sz="1600" b="0">
                          <a:latin typeface="+mj-lt"/>
                        </a:rPr>
                        <a:t>이하가 되면 </a:t>
                      </a:r>
                      <a:r>
                        <a:rPr lang="en-US" altLang="ko-KR" sz="1600" b="0">
                          <a:latin typeface="+mj-lt"/>
                        </a:rPr>
                        <a:t>GAME_OVER</a:t>
                      </a:r>
                      <a:r>
                        <a:rPr lang="ko-KR" altLang="en-US" sz="1600" b="0">
                          <a:latin typeface="+mj-lt"/>
                        </a:rPr>
                        <a:t> 프로토콜을 방송합니다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3640515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grpSp>
        <p:nvGrpSpPr>
          <p:cNvPr id="5" name="Group 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56515" cy="2266044"/>
            </a:xfrm>
            <a:custGeom>
              <a:avLst/>
              <a:gdLst/>
              <a:rect l="l" t="t" r="r" b="b"/>
              <a:pathLst>
                <a:path w="4356515" h="2266044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8" name="AutoShape 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w="sm" len="sm"/>
            <a:tailEnd w="sm" len="sm"/>
          </a:ln>
        </p:spPr>
      </p:sp>
      <p:sp>
        <p:nvSpPr>
          <p:cNvPr id="10" name="Freeform 10"/>
          <p:cNvSpPr/>
          <p:nvPr/>
        </p:nvSpPr>
        <p:spPr>
          <a:xfrm>
            <a:off x="1389943" y="1176191"/>
            <a:ext cx="556995" cy="139249"/>
          </a:xfrm>
          <a:custGeom>
            <a:avLst/>
            <a:gdLst/>
            <a:rect l="l" t="t" r="r" b="b"/>
            <a:pathLst>
              <a:path w="556995" h="139249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6278896" y="8211079"/>
            <a:ext cx="1657828" cy="1693338"/>
          </a:xfrm>
          <a:custGeom>
            <a:avLst/>
            <a:gdLst/>
            <a:rect l="l" t="t" r="r" b="b"/>
            <a:pathLst>
              <a:path w="1657828" h="1693338">
                <a:moveTo>
                  <a:pt x="0" y="0"/>
                </a:moveTo>
                <a:lnTo>
                  <a:pt x="1657828" y="0"/>
                </a:lnTo>
                <a:lnTo>
                  <a:pt x="1657828" y="1693338"/>
                </a:lnTo>
                <a:lnTo>
                  <a:pt x="0" y="16933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t="-166790" r="-288280"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5567886" y="2202332"/>
            <a:ext cx="7152228" cy="54086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실행 순서</a:t>
            </a:r>
            <a:endParaRPr lang="ko-KR" altLang="en-US" sz="7669">
              <a:solidFill>
                <a:schemeClr val="dk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grpSp>
        <p:nvGrpSpPr>
          <p:cNvPr id="37" name="Group 10"/>
          <p:cNvGrpSpPr/>
          <p:nvPr/>
        </p:nvGrpSpPr>
        <p:grpSpPr>
          <a:xfrm rot="0">
            <a:off x="2362200" y="3009900"/>
            <a:ext cx="13334999" cy="6172200"/>
            <a:chOff x="0" y="0"/>
            <a:chExt cx="2881023" cy="1058846"/>
          </a:xfrm>
        </p:grpSpPr>
        <p:sp>
          <p:nvSpPr>
            <p:cNvPr id="38" name="Freeform 11"/>
            <p:cNvSpPr/>
            <p:nvPr/>
          </p:nvSpPr>
          <p:spPr>
            <a:xfrm>
              <a:off x="0" y="0"/>
              <a:ext cx="2881023" cy="1058846"/>
            </a:xfrm>
            <a:custGeom>
              <a:avLst/>
              <a:gdLst/>
              <a:rect l="l" t="t" r="r" b="b"/>
              <a:pathLst>
                <a:path w="2881023" h="1058846">
                  <a:moveTo>
                    <a:pt x="16278" y="0"/>
                  </a:moveTo>
                  <a:lnTo>
                    <a:pt x="2864745" y="0"/>
                  </a:lnTo>
                  <a:cubicBezTo>
                    <a:pt x="2869062" y="0"/>
                    <a:pt x="2873203" y="1715"/>
                    <a:pt x="2876256" y="4768"/>
                  </a:cubicBezTo>
                  <a:cubicBezTo>
                    <a:pt x="2879308" y="7820"/>
                    <a:pt x="2881023" y="11961"/>
                    <a:pt x="2881023" y="16278"/>
                  </a:cubicBezTo>
                  <a:lnTo>
                    <a:pt x="2881023" y="1042568"/>
                  </a:lnTo>
                  <a:cubicBezTo>
                    <a:pt x="2881023" y="1051558"/>
                    <a:pt x="2873735" y="1058846"/>
                    <a:pt x="2864745" y="1058846"/>
                  </a:cubicBezTo>
                  <a:lnTo>
                    <a:pt x="16278" y="1058846"/>
                  </a:lnTo>
                  <a:cubicBezTo>
                    <a:pt x="7288" y="1058846"/>
                    <a:pt x="0" y="1051558"/>
                    <a:pt x="0" y="1042568"/>
                  </a:cubicBezTo>
                  <a:lnTo>
                    <a:pt x="0" y="16278"/>
                  </a:lnTo>
                  <a:cubicBezTo>
                    <a:pt x="0" y="7288"/>
                    <a:pt x="7288" y="0"/>
                    <a:pt x="1627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9" name="TextBox 12"/>
            <p:cNvSpPr txBox="1"/>
            <p:nvPr/>
          </p:nvSpPr>
          <p:spPr>
            <a:xfrm>
              <a:off x="0" y="-47625"/>
              <a:ext cx="2881023" cy="110647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2659"/>
                </a:lnSpc>
                <a:spcBef>
                  <a:spcPct val="0"/>
                </a:spcBef>
                <a:defRPr/>
              </a:pPr>
              <a:endParaRPr lang="ko-KR" altLang="en-US"/>
            </a:p>
          </p:txBody>
        </p:sp>
      </p:grpSp>
      <p:sp>
        <p:nvSpPr>
          <p:cNvPr id="40" name="가로 글상자 39"/>
          <p:cNvSpPr txBox="1"/>
          <p:nvPr/>
        </p:nvSpPr>
        <p:spPr>
          <a:xfrm>
            <a:off x="4038600" y="3817620"/>
            <a:ext cx="9144000" cy="361950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latinLnBrk="0">
              <a:buNone/>
              <a:defRPr/>
            </a:pPr>
            <a:endParaRPr lang="en-US" altLang="ko-KR"/>
          </a:p>
        </p:txBody>
      </p:sp>
      <p:sp>
        <p:nvSpPr>
          <p:cNvPr id="41" name="TextBox 36"/>
          <p:cNvSpPr txBox="1"/>
          <p:nvPr/>
        </p:nvSpPr>
        <p:spPr>
          <a:xfrm>
            <a:off x="2666998" y="3288090"/>
            <a:ext cx="12725399" cy="71241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>
              <a:buNone/>
              <a:defRPr/>
            </a:pPr>
            <a:r>
              <a:rPr lang="en-US" altLang="ko-KR" sz="2500" b="1"/>
              <a:t>2-3. </a:t>
            </a:r>
            <a:r>
              <a:rPr lang="ko-KR" altLang="en-US" sz="2500" b="1"/>
              <a:t>게임 시작 및 진행 </a:t>
            </a:r>
            <a:r>
              <a:rPr lang="en-US" altLang="ko-KR" sz="2500" b="1"/>
              <a:t>(Game Start and Gameplay)</a:t>
            </a:r>
            <a:endParaRPr lang="en-US" altLang="ko-KR" sz="2500" b="1"/>
          </a:p>
          <a:p>
            <a:pPr marL="357000" lvl="0" indent="-357000">
              <a:buClr>
                <a:schemeClr val="tx1"/>
              </a:buClr>
              <a:buFont typeface="Arial"/>
              <a:buChar char="•"/>
              <a:defRPr/>
            </a:pPr>
            <a:r>
              <a:rPr lang="ko-KR" altLang="en-US" sz="2200"/>
              <a:t>두 클라이언트가 </a:t>
            </a:r>
            <a:r>
              <a:rPr lang="en-US" altLang="ko-KR" sz="2200"/>
              <a:t>READY</a:t>
            </a:r>
            <a:r>
              <a:rPr lang="ko-KR" altLang="en-US" sz="2200"/>
              <a:t> 상태가 되면 게임이 시작되고</a:t>
            </a:r>
            <a:r>
              <a:rPr lang="en-US" altLang="ko-KR" sz="2200"/>
              <a:t>, GameRoomFrame</a:t>
            </a:r>
            <a:r>
              <a:rPr lang="ko-KR" altLang="en-US" sz="2200"/>
              <a:t>에서 러시안 룰렛 로직이 실행</a:t>
            </a:r>
            <a:endParaRPr lang="ko-KR" altLang="en-US" sz="2200"/>
          </a:p>
        </p:txBody>
      </p:sp>
      <p:graphicFrame>
        <p:nvGraphicFramePr>
          <p:cNvPr id="43" name="표 42"/>
          <p:cNvGraphicFramePr>
            <a:graphicFrameLocks noGrp="1"/>
          </p:cNvGraphicFramePr>
          <p:nvPr/>
        </p:nvGraphicFramePr>
        <p:xfrm>
          <a:off x="2743200" y="4083050"/>
          <a:ext cx="11582400" cy="4718050"/>
        </p:xfrm>
        <a:graphic>
          <a:graphicData uri="http://schemas.openxmlformats.org/drawingml/2006/table">
            <a:tbl>
              <a:tblPr firstRow="1" bandRow="1">
                <a:tableStyle styleId="{5940675A-B579-460E-94D1-54222C63F5DA}" styleName="스타일 없음, 표 눈금">
                  <a:wholeTbl>
                    <a:tcTxStyle>
                      <a:fontRef idx="minor">
                        <a:scrgbClr r="0" g="0" b="0"/>
                      </a:fontRef>
                      <a:schemeClr val="tx1"/>
                    </a:tcTxStyle>
                    <a:tcStyle>
                      <a:tcBdr>
                        <a:left>
                          <a:ln w="12700" cmpd="sng">
                            <a:solidFill>
                              <a:schemeClr val="tx1"/>
                            </a:solidFill>
                          </a:ln>
                        </a:left>
                        <a:right>
                          <a:ln w="12700" cmpd="sng">
                            <a:solidFill>
                              <a:schemeClr val="tx1"/>
                            </a:solidFill>
                          </a:ln>
                        </a:right>
                        <a:top>
                          <a:ln w="12700" cmpd="sng">
                            <a:solidFill>
                              <a:schemeClr val="tx1"/>
                            </a:solidFill>
                          </a:ln>
                        </a:top>
                        <a:bottom>
                          <a:ln w="12700" cmpd="sng">
                            <a:solidFill>
                              <a:schemeClr val="tx1"/>
                            </a:solidFill>
                          </a:ln>
                        </a:bottom>
                        <a:insideH>
                          <a:ln w="12700" cmpd="sng">
                            <a:solidFill>
                              <a:schemeClr val="tx1"/>
                            </a:solidFill>
                          </a:ln>
                        </a:insideH>
                        <a:insideV>
                          <a:ln w="12700" cmpd="sng">
                            <a:solidFill>
                              <a:schemeClr val="tx1"/>
                            </a:solidFill>
                          </a:ln>
                        </a:insideV>
                      </a:tcBdr>
                      <a:fill>
                        <a:noFill/>
                      </a:fill>
                    </a:tcStyle>
                  </a:wholeTbl>
                </a:tableStyle>
              </a:tblPr>
              <a:tblGrid>
                <a:gridCol w="5791200"/>
                <a:gridCol w="5791200"/>
              </a:tblGrid>
              <a:tr h="436517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/>
                        <a:t>파일</a:t>
                      </a: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ko-KR" altLang="en-US"/>
                        <a:t>역할 및 실행 순서</a:t>
                      </a:r>
                      <a:endParaRPr lang="ko-KR" altLang="en-US"/>
                    </a:p>
                  </a:txBody>
                  <a:tcPr marL="91440" marR="91440" anchor="ctr"/>
                </a:tc>
              </a:tr>
              <a:tr h="934897">
                <a:tc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 b="1">
                          <a:latin typeface="+mj-lt"/>
                        </a:rPr>
                        <a:t>ServerGuiMain.java</a:t>
                      </a:r>
                      <a:endParaRPr lang="en-US" b="1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1. </a:t>
                      </a:r>
                      <a:r>
                        <a:rPr lang="ko-KR" altLang="en-US" sz="1600" b="0">
                          <a:latin typeface="+mj-lt"/>
                        </a:rPr>
                        <a:t>시작점</a:t>
                      </a:r>
                      <a:r>
                        <a:rPr lang="en-US" altLang="ko-KR" sz="1600" b="0">
                          <a:latin typeface="+mj-lt"/>
                        </a:rPr>
                        <a:t>: main</a:t>
                      </a:r>
                      <a:r>
                        <a:rPr lang="ko-KR" altLang="en-US" sz="1600" b="0">
                          <a:latin typeface="+mj-lt"/>
                        </a:rPr>
                        <a:t> 메서드에서 </a:t>
                      </a:r>
                      <a:r>
                        <a:rPr lang="en-US" altLang="ko-KR" sz="1600" b="0">
                          <a:latin typeface="+mj-lt"/>
                        </a:rPr>
                        <a:t>Swing </a:t>
                      </a:r>
                      <a:r>
                        <a:rPr lang="ko-KR" altLang="en-US" sz="1600" b="0">
                          <a:latin typeface="+mj-lt"/>
                        </a:rPr>
                        <a:t>스레드를 통해 </a:t>
                      </a:r>
                      <a:r>
                        <a:rPr lang="en-US" altLang="ko-KR" sz="1600" b="0">
                          <a:latin typeface="+mj-lt"/>
                        </a:rPr>
                        <a:t>ServerFrame</a:t>
                      </a:r>
                      <a:r>
                        <a:rPr lang="ko-KR" altLang="en-US" sz="1600" b="0">
                          <a:latin typeface="+mj-lt"/>
                        </a:rPr>
                        <a:t> 인스턴스를 생성하고 화면에 표시합니다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691153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>
                          <a:latin typeface="+mj-lt"/>
                        </a:rPr>
                        <a:t>ServerFrame.java</a:t>
                      </a:r>
                      <a:endParaRPr lang="en-US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2. GUI </a:t>
                      </a:r>
                      <a:r>
                        <a:rPr lang="ko-KR" altLang="en-US" sz="1600" b="0">
                          <a:latin typeface="+mj-lt"/>
                        </a:rPr>
                        <a:t>초기화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서버 </a:t>
                      </a:r>
                      <a:r>
                        <a:rPr lang="en-US" altLang="ko-KR" sz="1600" b="0">
                          <a:latin typeface="+mj-lt"/>
                        </a:rPr>
                        <a:t>GUI(</a:t>
                      </a:r>
                      <a:r>
                        <a:rPr lang="ko-KR" altLang="en-US" sz="1600" b="0">
                          <a:latin typeface="+mj-lt"/>
                        </a:rPr>
                        <a:t>포트 입력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로그 영역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시작</a:t>
                      </a:r>
                      <a:r>
                        <a:rPr lang="en-US" altLang="ko-KR" sz="1600" b="0">
                          <a:latin typeface="+mj-lt"/>
                        </a:rPr>
                        <a:t>/</a:t>
                      </a:r>
                      <a:r>
                        <a:rPr lang="ko-KR" altLang="en-US" sz="1600" b="0">
                          <a:latin typeface="+mj-lt"/>
                        </a:rPr>
                        <a:t>종료 버튼</a:t>
                      </a:r>
                      <a:r>
                        <a:rPr lang="en-US" altLang="ko-KR" sz="1600" b="0">
                          <a:latin typeface="+mj-lt"/>
                        </a:rPr>
                        <a:t>)</a:t>
                      </a:r>
                      <a:r>
                        <a:rPr lang="ko-KR" altLang="en-US" sz="1600" b="0">
                          <a:latin typeface="+mj-lt"/>
                        </a:rPr>
                        <a:t>를 설정합니다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691153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3. </a:t>
                      </a:r>
                      <a:r>
                        <a:rPr lang="ko-KR" altLang="en-US" sz="1600" b="0">
                          <a:latin typeface="+mj-lt"/>
                        </a:rPr>
                        <a:t>서버 시작</a:t>
                      </a:r>
                      <a:r>
                        <a:rPr lang="en-US" altLang="ko-KR" sz="1600" b="0">
                          <a:latin typeface="+mj-lt"/>
                        </a:rPr>
                        <a:t>: </a:t>
                      </a:r>
                      <a:r>
                        <a:rPr lang="ko-KR" altLang="en-US" sz="1600" b="0">
                          <a:latin typeface="+mj-lt"/>
                        </a:rPr>
                        <a:t>사용자가 </a:t>
                      </a:r>
                      <a:r>
                        <a:rPr lang="en-US" altLang="ko-KR" sz="1600" b="0">
                          <a:latin typeface="+mj-lt"/>
                        </a:rPr>
                        <a:t>'Game Start' </a:t>
                      </a:r>
                      <a:r>
                        <a:rPr lang="ko-KR" altLang="en-US" sz="1600" b="0">
                          <a:latin typeface="+mj-lt"/>
                        </a:rPr>
                        <a:t>버튼을 누르면 </a:t>
                      </a:r>
                      <a:r>
                        <a:rPr lang="en-US" altLang="ko-KR" sz="1600" b="0">
                          <a:latin typeface="+mj-lt"/>
                        </a:rPr>
                        <a:t>startServer()</a:t>
                      </a:r>
                      <a:r>
                        <a:rPr lang="ko-KR" altLang="en-US" sz="1600" b="0">
                          <a:latin typeface="+mj-lt"/>
                        </a:rPr>
                        <a:t> 메서드가 호출됩니다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982165">
                <a:tc rowSpan="2">
                  <a:txBody>
                    <a:bodyPr vert="horz" lIns="91440" tIns="45720" rIns="91440" bIns="45720" anchor="ctr" anchorCtr="0"/>
                    <a:lstStyle/>
                    <a:p>
                      <a:pPr lvl="0" algn="ctr">
                        <a:buNone/>
                        <a:defRPr/>
                      </a:pPr>
                      <a:r>
                        <a:rPr lang="en-US">
                          <a:latin typeface="+mj-lt"/>
                        </a:rPr>
                        <a:t>ServerCore.java</a:t>
                      </a:r>
                      <a:endParaRPr lang="en-US">
                        <a:latin typeface="+mj-lt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4. </a:t>
                      </a:r>
                      <a:r>
                        <a:rPr lang="ko-KR" altLang="en-US" sz="1600" b="0">
                          <a:latin typeface="+mj-lt"/>
                        </a:rPr>
                        <a:t>코어 시작</a:t>
                      </a:r>
                      <a:r>
                        <a:rPr lang="en-US" altLang="ko-KR" sz="1600" b="0">
                          <a:latin typeface="+mj-lt"/>
                        </a:rPr>
                        <a:t>: ServerCore</a:t>
                      </a:r>
                      <a:r>
                        <a:rPr lang="ko-KR" altLang="en-US" sz="1600" b="0">
                          <a:latin typeface="+mj-lt"/>
                        </a:rPr>
                        <a:t> 인스턴스를 생성하고</a:t>
                      </a:r>
                      <a:r>
                        <a:rPr lang="en-US" altLang="ko-KR" sz="1600" b="0">
                          <a:latin typeface="+mj-lt"/>
                        </a:rPr>
                        <a:t>, </a:t>
                      </a:r>
                      <a:r>
                        <a:rPr lang="ko-KR" altLang="en-US" sz="1600" b="0">
                          <a:latin typeface="+mj-lt"/>
                        </a:rPr>
                        <a:t>지정된 포트로 </a:t>
                      </a:r>
                      <a:r>
                        <a:rPr lang="en-US" altLang="ko-KR" sz="1600" b="0">
                          <a:latin typeface="+mj-lt"/>
                        </a:rPr>
                        <a:t>ServerSocket</a:t>
                      </a:r>
                      <a:r>
                        <a:rPr lang="ko-KR" altLang="en-US" sz="1600" b="0">
                          <a:latin typeface="+mj-lt"/>
                        </a:rPr>
                        <a:t>을 열어 </a:t>
                      </a:r>
                      <a:r>
                        <a:rPr lang="en-US" altLang="ko-KR" sz="1600" b="0">
                          <a:latin typeface="+mj-lt"/>
                        </a:rPr>
                        <a:t>start(port)</a:t>
                      </a:r>
                      <a:r>
                        <a:rPr lang="ko-KR" altLang="en-US" sz="1600" b="0">
                          <a:latin typeface="+mj-lt"/>
                        </a:rPr>
                        <a:t> 메서드를 실행합니다</a:t>
                      </a:r>
                      <a:r>
                        <a:rPr lang="en-US" altLang="ko-KR" sz="1600" b="0">
                          <a:latin typeface="+mj-lt"/>
                        </a:rPr>
                        <a:t>.</a:t>
                      </a:r>
                      <a:endParaRPr lang="en-US" altLang="ko-KR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  <a:tr h="982165">
                <a:tc vMerge="1"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endParaRPr lang="ko-KR" altLang="en-US"/>
                    </a:p>
                  </a:txBody>
                  <a:tcPr marL="91440" marR="91440" anchor="ctr"/>
                </a:tc>
                <a:tc>
                  <a:txBody>
                    <a:bodyPr vert="horz" lIns="91440" tIns="45720" rIns="91440" bIns="45720" anchor="ctr" anchorCtr="0"/>
                    <a:lstStyle/>
                    <a:p>
                      <a:pPr lvl="0">
                        <a:buNone/>
                        <a:defRPr/>
                      </a:pPr>
                      <a:r>
                        <a:rPr lang="en-US" altLang="ko-KR" sz="1600" b="0">
                          <a:latin typeface="+mj-lt"/>
                        </a:rPr>
                        <a:t>5. </a:t>
                      </a:r>
                      <a:r>
                        <a:rPr lang="ko-KR" altLang="en-US" sz="1600" b="0">
                          <a:latin typeface="+mj-lt"/>
                        </a:rPr>
                        <a:t>연결 대기</a:t>
                      </a:r>
                      <a:r>
                        <a:rPr lang="en-US" altLang="ko-KR" sz="1600" b="0">
                          <a:latin typeface="+mj-lt"/>
                        </a:rPr>
                        <a:t>: acceptLoop()</a:t>
                      </a:r>
                      <a:r>
                        <a:rPr lang="ko-KR" altLang="en-US" sz="1600" b="0">
                          <a:latin typeface="+mj-lt"/>
                        </a:rPr>
                        <a:t> 스레드를 시작하여 두 명의 클라이언트</a:t>
                      </a:r>
                      <a:r>
                        <a:rPr lang="en-US" altLang="ko-KR" sz="1600" b="0">
                          <a:latin typeface="+mj-lt"/>
                        </a:rPr>
                        <a:t>(P1, P2)</a:t>
                      </a:r>
                      <a:r>
                        <a:rPr lang="ko-KR" altLang="en-US" sz="1600" b="0">
                          <a:latin typeface="+mj-lt"/>
                        </a:rPr>
                        <a:t>가 연결될 때까지 블록킹 상태로 대기합니다</a:t>
                      </a:r>
                      <a:endParaRPr lang="ko-KR" altLang="en-US" sz="1600" b="0">
                        <a:latin typeface="+mj-lt"/>
                      </a:endParaRPr>
                    </a:p>
                  </a:txBody>
                  <a:tcPr marL="91440" marR="9144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0555949"/>
      </p:ext>
    </p:extLst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flipV="true">
            <a:off x="8347894" y="1657487"/>
            <a:ext cx="0" cy="773534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id="29" name="내용 개체 틀 2"/>
          <p:cNvSpPr txBox="1"/>
          <p:nvPr/>
        </p:nvSpPr>
        <p:spPr>
          <a:xfrm>
            <a:off x="914400" y="1790700"/>
            <a:ext cx="7467600" cy="7696200"/>
          </a:xfrm>
          <a:prstGeom prst="rect">
            <a:avLst/>
          </a:prstGeom>
        </p:spPr>
        <p:txBody>
          <a:bodyPr vert="horz" lIns="91440" tIns="45720" rIns="91440" bIns="4572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 b="1"/>
              <a:t>1. </a:t>
            </a:r>
            <a:r>
              <a:rPr lang="ko-KR" altLang="en-US" b="1"/>
              <a:t>연결 </a:t>
            </a:r>
            <a:r>
              <a:rPr lang="en-US" altLang="ko-KR" b="1"/>
              <a:t>(</a:t>
            </a:r>
            <a:r>
              <a:rPr lang="en" altLang="ko-KR" b="1"/>
              <a:t>Connection)</a:t>
            </a:r>
            <a:endParaRPr lang="en" altLang="ko-KR" b="1"/>
          </a:p>
          <a:p>
            <a:pPr lvl="0">
              <a:defRPr/>
            </a:pPr>
            <a:r>
              <a:rPr lang="ko-KR" altLang="en-US" b="1"/>
              <a:t>서버 구동 및 접속 대기</a:t>
            </a:r>
            <a:endParaRPr lang="ko-KR" altLang="en-US" b="1"/>
          </a:p>
          <a:p>
            <a:pPr lvl="0">
              <a:defRPr/>
            </a:pPr>
            <a:r>
              <a:rPr lang="en" altLang="ko-KR" b="1"/>
              <a:t>Flow:</a:t>
            </a:r>
            <a:r>
              <a:rPr lang="en" altLang="ko-KR"/>
              <a:t> ServerGuiMain (UI) → ServerCore.start() → ServerSocket</a:t>
            </a:r>
            <a:endParaRPr lang="en" altLang="ko-KR"/>
          </a:p>
          <a:p>
            <a:pPr lvl="0">
              <a:defRPr/>
            </a:pPr>
            <a:r>
              <a:rPr lang="en" altLang="ko-KR" b="1"/>
              <a:t>Key Action:</a:t>
            </a:r>
            <a:endParaRPr lang="en" altLang="ko-KR" b="1"/>
          </a:p>
          <a:p>
            <a:pPr lvl="1">
              <a:defRPr/>
            </a:pPr>
            <a:r>
              <a:rPr lang="en" altLang="ko-KR" b="1"/>
              <a:t>Socket Open:</a:t>
            </a:r>
            <a:r>
              <a:rPr lang="en" altLang="ko-KR"/>
              <a:t> </a:t>
            </a:r>
            <a:r>
              <a:rPr lang="ko-KR" altLang="en-US"/>
              <a:t>지정된 포트</a:t>
            </a:r>
            <a:r>
              <a:rPr lang="en-US" altLang="ko-KR"/>
              <a:t>(7777)</a:t>
            </a:r>
            <a:r>
              <a:rPr lang="ko-KR" altLang="en-US"/>
              <a:t>로 서버 소켓 개방</a:t>
            </a:r>
            <a:endParaRPr lang="ko-KR" altLang="en-US"/>
          </a:p>
          <a:p>
            <a:pPr lvl="1">
              <a:defRPr/>
            </a:pPr>
            <a:r>
              <a:rPr lang="en" altLang="ko-KR" b="1"/>
              <a:t>Accept Loop:</a:t>
            </a:r>
            <a:r>
              <a:rPr lang="en" altLang="ko-KR"/>
              <a:t> ServerCore </a:t>
            </a:r>
            <a:r>
              <a:rPr lang="ko-KR" altLang="en-US"/>
              <a:t>스레드가 무한 루프를 돌며 클라이언트 접속 대기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 b="1"/>
              <a:t>2. </a:t>
            </a:r>
            <a:r>
              <a:rPr lang="ko-KR" altLang="en-US" b="1"/>
              <a:t>접속 및 준비 </a:t>
            </a:r>
            <a:r>
              <a:rPr lang="en-US" altLang="ko-KR" b="1"/>
              <a:t>(</a:t>
            </a:r>
            <a:r>
              <a:rPr lang="en" altLang="ko-KR" b="1"/>
              <a:t>Connect &amp; Ready)</a:t>
            </a:r>
            <a:endParaRPr lang="en" altLang="ko-KR" b="1"/>
          </a:p>
          <a:p>
            <a:pPr lvl="0">
              <a:defRPr/>
            </a:pPr>
            <a:r>
              <a:rPr lang="en" altLang="ko-KR" b="1"/>
              <a:t>1:1 </a:t>
            </a:r>
            <a:r>
              <a:rPr lang="ko-KR" altLang="en-US" b="1"/>
              <a:t>매칭 성사 및 대기실 동기화</a:t>
            </a:r>
            <a:endParaRPr lang="ko-KR" altLang="en-US" b="1"/>
          </a:p>
          <a:p>
            <a:pPr lvl="0">
              <a:defRPr/>
            </a:pPr>
            <a:r>
              <a:rPr lang="en" altLang="ko-KR" b="1"/>
              <a:t>Flow:</a:t>
            </a:r>
            <a:r>
              <a:rPr lang="en" altLang="ko-KR"/>
              <a:t> ClientMain → NetworkClient ↔ ServerCore → ClientHandler → Room</a:t>
            </a:r>
            <a:endParaRPr lang="en" altLang="ko-KR"/>
          </a:p>
          <a:p>
            <a:pPr lvl="0">
              <a:defRPr/>
            </a:pPr>
            <a:r>
              <a:rPr lang="en" altLang="ko-KR" b="1"/>
              <a:t>Key Action:</a:t>
            </a:r>
            <a:endParaRPr lang="en" altLang="ko-KR" b="1"/>
          </a:p>
          <a:p>
            <a:pPr lvl="1">
              <a:defRPr/>
            </a:pPr>
            <a:r>
              <a:rPr lang="en" altLang="ko-KR" b="1"/>
              <a:t>Thread Fork:</a:t>
            </a:r>
            <a:r>
              <a:rPr lang="en" altLang="ko-KR"/>
              <a:t> </a:t>
            </a:r>
            <a:r>
              <a:rPr lang="ko-KR" altLang="en-US"/>
              <a:t>접속 시마다 </a:t>
            </a:r>
            <a:r>
              <a:rPr lang="en" altLang="ko-KR"/>
              <a:t>ClientHandler </a:t>
            </a:r>
            <a:r>
              <a:rPr lang="ko-KR" altLang="en-US"/>
              <a:t>스레드 생성 </a:t>
            </a:r>
            <a:r>
              <a:rPr lang="en-US" altLang="ko-KR"/>
              <a:t>(1:1 </a:t>
            </a:r>
            <a:r>
              <a:rPr lang="ko-KR" altLang="en-US"/>
              <a:t>매칭</a:t>
            </a:r>
            <a:r>
              <a:rPr lang="en-US" altLang="ko-KR"/>
              <a:t>)</a:t>
            </a:r>
            <a:endParaRPr lang="en-US" altLang="ko-KR"/>
          </a:p>
          <a:p>
            <a:pPr lvl="1">
              <a:defRPr/>
            </a:pPr>
            <a:r>
              <a:rPr lang="en" altLang="ko-KR" b="1"/>
              <a:t>Room Creation:</a:t>
            </a:r>
            <a:r>
              <a:rPr lang="en" altLang="ko-KR"/>
              <a:t> 2</a:t>
            </a:r>
            <a:r>
              <a:rPr lang="ko-KR" altLang="en-US"/>
              <a:t>명 접속 확인 시 </a:t>
            </a:r>
            <a:r>
              <a:rPr lang="en" altLang="ko-KR"/>
              <a:t>Room </a:t>
            </a:r>
            <a:r>
              <a:rPr lang="ko-KR" altLang="en-US"/>
              <a:t>객체 생성 및 핸들러 그룹화</a:t>
            </a:r>
            <a:endParaRPr lang="ko-KR" altLang="en-US"/>
          </a:p>
          <a:p>
            <a:pPr lvl="1">
              <a:defRPr/>
            </a:pPr>
            <a:r>
              <a:rPr lang="en" altLang="ko-KR" b="1"/>
              <a:t>Ready Check:</a:t>
            </a:r>
            <a:r>
              <a:rPr lang="en" altLang="ko-KR"/>
              <a:t> Room </a:t>
            </a:r>
            <a:r>
              <a:rPr lang="ko-KR" altLang="en-US"/>
              <a:t>클래스에서 양쪽 플레이어의 </a:t>
            </a:r>
            <a:r>
              <a:rPr lang="en" altLang="ko-KR"/>
              <a:t>READY </a:t>
            </a:r>
            <a:r>
              <a:rPr lang="ko-KR" altLang="en-US"/>
              <a:t>신호 관리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 b="1"/>
              <a:t>3. </a:t>
            </a:r>
            <a:r>
              <a:rPr lang="ko-KR" altLang="en-US" b="1"/>
              <a:t>게임 시작 </a:t>
            </a:r>
            <a:r>
              <a:rPr lang="en-US" altLang="ko-KR" b="1"/>
              <a:t>(</a:t>
            </a:r>
            <a:r>
              <a:rPr lang="en" altLang="ko-KR" b="1"/>
              <a:t>Game Start)</a:t>
            </a:r>
            <a:endParaRPr lang="en" altLang="ko-KR" b="1"/>
          </a:p>
          <a:p>
            <a:pPr lvl="0">
              <a:defRPr/>
            </a:pPr>
            <a:r>
              <a:rPr lang="ko-KR" altLang="en-US" b="1"/>
              <a:t>게임 환경 초기화 </a:t>
            </a:r>
            <a:r>
              <a:rPr lang="en-US" altLang="ko-KR" b="1"/>
              <a:t>(</a:t>
            </a:r>
            <a:r>
              <a:rPr lang="en" altLang="ko-KR" b="1"/>
              <a:t>Random Seed)</a:t>
            </a:r>
            <a:endParaRPr lang="en" altLang="ko-KR" b="1"/>
          </a:p>
          <a:p>
            <a:pPr lvl="0">
              <a:defRPr/>
            </a:pPr>
            <a:r>
              <a:rPr lang="en" altLang="ko-KR" b="1"/>
              <a:t>Flow:</a:t>
            </a:r>
            <a:r>
              <a:rPr lang="en" altLang="ko-KR"/>
              <a:t> Room.startGame() → Protocol </a:t>
            </a:r>
            <a:r>
              <a:rPr lang="ko-KR" altLang="en-US"/>
              <a:t>전송 → </a:t>
            </a:r>
            <a:r>
              <a:rPr lang="en" altLang="ko-KR"/>
              <a:t>GameRoomFrame (</a:t>
            </a:r>
            <a:r>
              <a:rPr lang="ko-KR" altLang="en-US"/>
              <a:t>화면 전환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" altLang="ko-KR" b="1"/>
              <a:t>Key Action:</a:t>
            </a:r>
            <a:endParaRPr lang="en" altLang="ko-KR" b="1"/>
          </a:p>
          <a:p>
            <a:pPr lvl="1">
              <a:defRPr/>
            </a:pPr>
            <a:r>
              <a:rPr lang="en" altLang="ko-KR" b="1"/>
              <a:t>Randomize:</a:t>
            </a:r>
            <a:r>
              <a:rPr lang="en" altLang="ko-KR"/>
              <a:t> Room</a:t>
            </a:r>
            <a:r>
              <a:rPr lang="ko-KR" altLang="en-US"/>
              <a:t>에서 </a:t>
            </a:r>
            <a:r>
              <a:rPr lang="en-US" altLang="ko-KR"/>
              <a:t>6</a:t>
            </a:r>
            <a:r>
              <a:rPr lang="ko-KR" altLang="en-US"/>
              <a:t>칸 탄창 배열</a:t>
            </a:r>
            <a:r>
              <a:rPr lang="en-US" altLang="ko-KR"/>
              <a:t>(</a:t>
            </a:r>
            <a:r>
              <a:rPr lang="en" altLang="ko-KR"/>
              <a:t>int[] cyl) </a:t>
            </a:r>
            <a:r>
              <a:rPr lang="ko-KR" altLang="en-US"/>
              <a:t>랜덤 생성 </a:t>
            </a:r>
            <a:r>
              <a:rPr lang="en-US" altLang="ko-KR" b="1"/>
              <a:t>(</a:t>
            </a:r>
            <a:r>
              <a:rPr lang="ko-KR" altLang="en-US" b="1"/>
              <a:t>서버 권한</a:t>
            </a:r>
            <a:r>
              <a:rPr lang="en-US" altLang="ko-KR" b="1"/>
              <a:t>)</a:t>
            </a:r>
            <a:endParaRPr lang="en-US" altLang="ko-KR" b="1"/>
          </a:p>
          <a:p>
            <a:pPr lvl="1">
              <a:defRPr/>
            </a:pPr>
            <a:r>
              <a:rPr lang="en" altLang="ko-KR" b="1"/>
              <a:t>Turn Assign:</a:t>
            </a:r>
            <a:r>
              <a:rPr lang="en" altLang="ko-KR"/>
              <a:t> </a:t>
            </a:r>
            <a:r>
              <a:rPr lang="ko-KR" altLang="en-US"/>
              <a:t>선공 플레이어 무작위 배정 및 </a:t>
            </a:r>
            <a:r>
              <a:rPr lang="en" altLang="ko-KR"/>
              <a:t>GAME_START </a:t>
            </a:r>
            <a:r>
              <a:rPr lang="ko-KR" altLang="en-US"/>
              <a:t>브로드캐스트</a:t>
            </a:r>
            <a:endParaRPr lang="ko-KR" altLang="en-US"/>
          </a:p>
          <a:p>
            <a:pPr lvl="1">
              <a:defRPr/>
            </a:pPr>
            <a:r>
              <a:rPr lang="en" altLang="ko-KR" b="1"/>
              <a:t>Init:</a:t>
            </a:r>
            <a:r>
              <a:rPr lang="en" altLang="ko-KR"/>
              <a:t> </a:t>
            </a:r>
            <a:r>
              <a:rPr lang="ko-KR" altLang="en-US"/>
              <a:t>아이템 지급 및 기본 조준 상태</a:t>
            </a:r>
            <a:r>
              <a:rPr lang="en-US" altLang="ko-KR"/>
              <a:t>(</a:t>
            </a:r>
            <a:r>
              <a:rPr lang="en" altLang="ko-KR"/>
              <a:t>SELF) </a:t>
            </a:r>
            <a:r>
              <a:rPr lang="ko-KR" altLang="en-US"/>
              <a:t>설정</a:t>
            </a:r>
            <a:endParaRPr lang="ko-KR" altLang="en-US"/>
          </a:p>
          <a:p>
            <a:pPr lvl="0">
              <a:defRPr/>
            </a:pPr>
            <a:endParaRPr lang="en" altLang="ko-KR" sz="1000"/>
          </a:p>
        </p:txBody>
      </p:sp>
      <p:sp>
        <p:nvSpPr>
          <p:cNvPr id="30" name="내용 개체 틀 2"/>
          <p:cNvSpPr txBox="1"/>
          <p:nvPr/>
        </p:nvSpPr>
        <p:spPr>
          <a:xfrm>
            <a:off x="8458200" y="1790700"/>
            <a:ext cx="8763000" cy="7467600"/>
          </a:xfrm>
          <a:prstGeom prst="rect">
            <a:avLst/>
          </a:prstGeom>
        </p:spPr>
        <p:txBody>
          <a:bodyPr vert="horz" lIns="91440" tIns="45720" rIns="91440" bIns="45720">
            <a:normAutofit fontScale="85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buNone/>
              <a:defRPr/>
            </a:pPr>
            <a:r>
              <a:rPr lang="en-US" altLang="ko-KR" b="1"/>
              <a:t>4. </a:t>
            </a:r>
            <a:r>
              <a:rPr lang="ko-KR" altLang="en-US" b="1"/>
              <a:t>전투 </a:t>
            </a:r>
            <a:r>
              <a:rPr lang="en-US" altLang="ko-KR" b="1"/>
              <a:t>(</a:t>
            </a:r>
            <a:r>
              <a:rPr lang="en" altLang="ko-KR" b="1"/>
              <a:t>Battle Loop) ★ </a:t>
            </a:r>
            <a:r>
              <a:rPr lang="ko-KR" altLang="en-US" b="1"/>
              <a:t>핵심</a:t>
            </a:r>
            <a:endParaRPr lang="ko-KR" altLang="en-US" b="1"/>
          </a:p>
          <a:p>
            <a:pPr lvl="0">
              <a:defRPr/>
            </a:pPr>
            <a:r>
              <a:rPr lang="en" altLang="ko-KR" b="1"/>
              <a:t>MVC </a:t>
            </a:r>
            <a:r>
              <a:rPr lang="ko-KR" altLang="en-US" b="1"/>
              <a:t>패턴 기반의 실시간 상태 동기화</a:t>
            </a:r>
            <a:endParaRPr lang="ko-KR" altLang="en-US" b="1"/>
          </a:p>
          <a:p>
            <a:pPr marL="0" lvl="0" indent="0">
              <a:buNone/>
              <a:defRPr/>
            </a:pPr>
            <a:r>
              <a:rPr lang="en-US" altLang="ko-KR" b="1"/>
              <a:t>	① </a:t>
            </a:r>
            <a:r>
              <a:rPr lang="en" altLang="ko-KR" b="1"/>
              <a:t>AIM (</a:t>
            </a:r>
            <a:r>
              <a:rPr lang="ko-KR" altLang="en-US" b="1"/>
              <a:t>조준</a:t>
            </a:r>
            <a:r>
              <a:rPr lang="en-US" altLang="ko-KR" b="1"/>
              <a:t>)</a:t>
            </a:r>
            <a:endParaRPr lang="en-US" altLang="ko-KR" b="1"/>
          </a:p>
          <a:p>
            <a:pPr lvl="2">
              <a:defRPr/>
            </a:pPr>
            <a:r>
              <a:rPr lang="en" altLang="ko-KR" b="1"/>
              <a:t>Flow:</a:t>
            </a:r>
            <a:r>
              <a:rPr lang="en" altLang="ko-KR"/>
              <a:t> GameRoomFrame (Input) → ClientHandler → Room</a:t>
            </a:r>
            <a:endParaRPr lang="en" altLang="ko-KR"/>
          </a:p>
          <a:p>
            <a:pPr lvl="2">
              <a:defRPr/>
            </a:pPr>
            <a:r>
              <a:rPr lang="en" altLang="ko-KR" b="1"/>
              <a:t>Action:</a:t>
            </a:r>
            <a:r>
              <a:rPr lang="en" altLang="ko-KR"/>
              <a:t> </a:t>
            </a:r>
            <a:r>
              <a:rPr lang="ko-KR" altLang="en-US"/>
              <a:t>조준 대상</a:t>
            </a:r>
            <a:r>
              <a:rPr lang="en-US" altLang="ko-KR"/>
              <a:t>(</a:t>
            </a:r>
            <a:r>
              <a:rPr lang="en" altLang="ko-KR"/>
              <a:t>aimP1) </a:t>
            </a:r>
            <a:r>
              <a:rPr lang="ko-KR" altLang="en-US"/>
              <a:t>상태 변수 갱신 및 상대방에게 애니메이션 동기화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 b="1"/>
              <a:t>	② </a:t>
            </a:r>
            <a:r>
              <a:rPr lang="en" altLang="ko-KR" b="1"/>
              <a:t>USE_ITEM (</a:t>
            </a:r>
            <a:r>
              <a:rPr lang="ko-KR" altLang="en-US" b="1"/>
              <a:t>아이템</a:t>
            </a:r>
            <a:r>
              <a:rPr lang="en-US" altLang="ko-KR" b="1"/>
              <a:t>)</a:t>
            </a:r>
            <a:endParaRPr lang="en-US" altLang="ko-KR" b="1"/>
          </a:p>
          <a:p>
            <a:pPr lvl="2">
              <a:defRPr/>
            </a:pPr>
            <a:r>
              <a:rPr lang="en" altLang="ko-KR" b="1"/>
              <a:t>Flow:</a:t>
            </a:r>
            <a:r>
              <a:rPr lang="en" altLang="ko-KR"/>
              <a:t> NetworkClient → Room.onUseItem() → Broadcast</a:t>
            </a:r>
            <a:endParaRPr lang="en" altLang="ko-KR"/>
          </a:p>
          <a:p>
            <a:pPr lvl="2">
              <a:defRPr/>
            </a:pPr>
            <a:r>
              <a:rPr lang="en" altLang="ko-KR" b="1"/>
              <a:t>Action:</a:t>
            </a:r>
            <a:r>
              <a:rPr lang="en" altLang="ko-KR"/>
              <a:t> </a:t>
            </a:r>
            <a:r>
              <a:rPr lang="en" altLang="ko-KR" b="1"/>
              <a:t>synchronized</a:t>
            </a:r>
            <a:r>
              <a:rPr lang="en" altLang="ko-KR"/>
              <a:t> </a:t>
            </a:r>
            <a:r>
              <a:rPr lang="ko-KR" altLang="en-US"/>
              <a:t>동기화를 통해 아이템 중복 사용 방지 및 효과</a:t>
            </a:r>
            <a:r>
              <a:rPr lang="en-US" altLang="ko-KR"/>
              <a:t>(</a:t>
            </a:r>
            <a:r>
              <a:rPr lang="en" altLang="ko-KR"/>
              <a:t>Heal/Search) </a:t>
            </a:r>
            <a:r>
              <a:rPr lang="ko-KR" altLang="en-US"/>
              <a:t>적용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 b="1"/>
              <a:t>	③ </a:t>
            </a:r>
            <a:r>
              <a:rPr lang="en" altLang="ko-KR" b="1"/>
              <a:t>FIRE (</a:t>
            </a:r>
            <a:r>
              <a:rPr lang="ko-KR" altLang="en-US" b="1"/>
              <a:t>발사</a:t>
            </a:r>
            <a:r>
              <a:rPr lang="en-US" altLang="ko-KR" b="1"/>
              <a:t>) - [</a:t>
            </a:r>
            <a:r>
              <a:rPr lang="en" altLang="ko-KR" b="1"/>
              <a:t>Logic Core]</a:t>
            </a:r>
            <a:endParaRPr lang="en" altLang="ko-KR" b="1"/>
          </a:p>
          <a:p>
            <a:pPr lvl="2">
              <a:defRPr/>
            </a:pPr>
            <a:r>
              <a:rPr lang="en" altLang="ko-KR" b="1"/>
              <a:t>Flow:</a:t>
            </a:r>
            <a:r>
              <a:rPr lang="en" altLang="ko-KR"/>
              <a:t> Client (</a:t>
            </a:r>
            <a:r>
              <a:rPr lang="ko-KR" altLang="en-US"/>
              <a:t>요청</a:t>
            </a:r>
            <a:r>
              <a:rPr lang="en-US" altLang="ko-KR"/>
              <a:t>) → </a:t>
            </a:r>
            <a:r>
              <a:rPr lang="en" altLang="ko-KR"/>
              <a:t>Room.onFire() (</a:t>
            </a:r>
            <a:r>
              <a:rPr lang="ko-KR" altLang="en-US"/>
              <a:t>판정</a:t>
            </a:r>
            <a:r>
              <a:rPr lang="en-US" altLang="ko-KR"/>
              <a:t>) → </a:t>
            </a:r>
            <a:r>
              <a:rPr lang="en" altLang="ko-KR"/>
              <a:t>All Clients (</a:t>
            </a:r>
            <a:r>
              <a:rPr lang="ko-KR" altLang="en-US"/>
              <a:t>반영</a:t>
            </a:r>
            <a:r>
              <a:rPr lang="en-US" altLang="ko-KR"/>
              <a:t>)</a:t>
            </a:r>
            <a:endParaRPr lang="en-US" altLang="ko-KR"/>
          </a:p>
          <a:p>
            <a:pPr lvl="2">
              <a:defRPr/>
            </a:pPr>
            <a:r>
              <a:rPr lang="en" altLang="ko-KR" b="1"/>
              <a:t>Key Action (Server Logic):</a:t>
            </a:r>
            <a:endParaRPr lang="en" altLang="ko-KR" b="1"/>
          </a:p>
          <a:p>
            <a:pPr lvl="2">
              <a:defRPr/>
            </a:pPr>
            <a:r>
              <a:rPr lang="en" altLang="ko-KR" b="1"/>
              <a:t>Turn Check:</a:t>
            </a:r>
            <a:r>
              <a:rPr lang="en" altLang="ko-KR"/>
              <a:t> </a:t>
            </a:r>
            <a:r>
              <a:rPr lang="ko-KR" altLang="en-US"/>
              <a:t>현재 턴 유효성 검증</a:t>
            </a:r>
            <a:endParaRPr lang="ko-KR" altLang="en-US"/>
          </a:p>
          <a:p>
            <a:pPr lvl="2">
              <a:defRPr/>
            </a:pPr>
            <a:r>
              <a:rPr lang="en" altLang="ko-KR" b="1"/>
              <a:t>Validation:</a:t>
            </a:r>
            <a:r>
              <a:rPr lang="en" altLang="ko-KR"/>
              <a:t> </a:t>
            </a:r>
            <a:r>
              <a:rPr lang="ko-KR" altLang="en-US"/>
              <a:t>탄창 배열 확인 </a:t>
            </a:r>
            <a:r>
              <a:rPr lang="en-US" altLang="ko-KR"/>
              <a:t>(</a:t>
            </a:r>
            <a:r>
              <a:rPr lang="ko-KR" altLang="en-US"/>
              <a:t>실탄</a:t>
            </a:r>
            <a:r>
              <a:rPr lang="en-US" altLang="ko-KR"/>
              <a:t>/</a:t>
            </a:r>
            <a:r>
              <a:rPr lang="ko-KR" altLang="en-US"/>
              <a:t>공탄</a:t>
            </a:r>
            <a:r>
              <a:rPr lang="en-US" altLang="ko-KR"/>
              <a:t>) </a:t>
            </a:r>
            <a:r>
              <a:rPr lang="ko-KR" altLang="en-US"/>
              <a:t>및 데미지 계산</a:t>
            </a:r>
            <a:endParaRPr lang="ko-KR" altLang="en-US"/>
          </a:p>
          <a:p>
            <a:pPr lvl="2">
              <a:defRPr/>
            </a:pPr>
            <a:r>
              <a:rPr lang="en" altLang="ko-KR" b="1"/>
              <a:t>Update:</a:t>
            </a:r>
            <a:r>
              <a:rPr lang="en" altLang="ko-KR"/>
              <a:t> HP </a:t>
            </a:r>
            <a:r>
              <a:rPr lang="ko-KR" altLang="en-US"/>
              <a:t>차감</a:t>
            </a:r>
            <a:r>
              <a:rPr lang="en-US" altLang="ko-KR"/>
              <a:t>, </a:t>
            </a:r>
            <a:r>
              <a:rPr lang="ko-KR" altLang="en-US"/>
              <a:t>탄창 인덱스 증가</a:t>
            </a:r>
            <a:r>
              <a:rPr lang="en-US" altLang="ko-KR"/>
              <a:t>, </a:t>
            </a:r>
            <a:r>
              <a:rPr lang="ko-KR" altLang="en-US"/>
              <a:t>턴 교체 수행</a:t>
            </a:r>
            <a:endParaRPr lang="ko-KR" altLang="en-US"/>
          </a:p>
          <a:p>
            <a:pPr marL="0" lvl="0" indent="0">
              <a:buNone/>
              <a:defRPr/>
            </a:pPr>
            <a:r>
              <a:rPr lang="en-US" altLang="ko-KR" b="1"/>
              <a:t>5. </a:t>
            </a:r>
            <a:r>
              <a:rPr lang="ko-KR" altLang="en-US" b="1"/>
              <a:t>종료 </a:t>
            </a:r>
            <a:r>
              <a:rPr lang="en-US" altLang="ko-KR" b="1"/>
              <a:t>(</a:t>
            </a:r>
            <a:r>
              <a:rPr lang="en" altLang="ko-KR" b="1"/>
              <a:t>Result)</a:t>
            </a:r>
            <a:endParaRPr lang="en" altLang="ko-KR" b="1"/>
          </a:p>
          <a:p>
            <a:pPr lvl="0">
              <a:defRPr/>
            </a:pPr>
            <a:r>
              <a:rPr lang="ko-KR" altLang="en-US" b="1"/>
              <a:t>승패 판정 및 자원 해제</a:t>
            </a:r>
            <a:endParaRPr lang="ko-KR" altLang="en-US" b="1"/>
          </a:p>
          <a:p>
            <a:pPr lvl="0">
              <a:defRPr/>
            </a:pPr>
            <a:r>
              <a:rPr lang="en" altLang="ko-KR" b="1"/>
              <a:t>Flow:</a:t>
            </a:r>
            <a:r>
              <a:rPr lang="en" altLang="ko-KR"/>
              <a:t> Room (HP </a:t>
            </a:r>
            <a:r>
              <a:rPr lang="ko-KR" altLang="en-US"/>
              <a:t>감지</a:t>
            </a:r>
            <a:r>
              <a:rPr lang="en-US" altLang="ko-KR"/>
              <a:t>) → </a:t>
            </a:r>
            <a:r>
              <a:rPr lang="en" altLang="ko-KR"/>
              <a:t>Protocol.GAME_OVER → GameRoomFrame (</a:t>
            </a:r>
            <a:r>
              <a:rPr lang="ko-KR" altLang="en-US"/>
              <a:t>결과창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r>
              <a:rPr lang="en" altLang="ko-KR" b="1"/>
              <a:t>Key Action:</a:t>
            </a:r>
            <a:endParaRPr lang="en" altLang="ko-KR" b="1"/>
          </a:p>
          <a:p>
            <a:pPr lvl="1">
              <a:defRPr/>
            </a:pPr>
            <a:r>
              <a:rPr lang="en" altLang="ko-KR" b="1"/>
              <a:t>Judgment:</a:t>
            </a:r>
            <a:r>
              <a:rPr lang="en" altLang="ko-KR"/>
              <a:t> </a:t>
            </a:r>
            <a:r>
              <a:rPr lang="ko-KR" altLang="en-US"/>
              <a:t>로직 수행 직후 </a:t>
            </a:r>
            <a:r>
              <a:rPr lang="en" altLang="ko-KR"/>
              <a:t>HP</a:t>
            </a:r>
            <a:r>
              <a:rPr lang="ko-KR" altLang="en-US"/>
              <a:t>가 </a:t>
            </a:r>
            <a:r>
              <a:rPr lang="en-US" altLang="ko-KR"/>
              <a:t>0 </a:t>
            </a:r>
            <a:r>
              <a:rPr lang="ko-KR" altLang="en-US"/>
              <a:t>이하가 되면 즉시 승패 판정</a:t>
            </a:r>
            <a:endParaRPr lang="ko-KR" altLang="en-US"/>
          </a:p>
          <a:p>
            <a:pPr lvl="1">
              <a:defRPr/>
            </a:pPr>
            <a:r>
              <a:rPr lang="en" altLang="ko-KR" b="1"/>
              <a:t>Termination:</a:t>
            </a:r>
            <a:r>
              <a:rPr lang="en" altLang="ko-KR"/>
              <a:t> EXIT_ROOM </a:t>
            </a:r>
            <a:r>
              <a:rPr lang="ko-KR" altLang="en-US"/>
              <a:t>처리 및 소켓 리소스</a:t>
            </a:r>
            <a:r>
              <a:rPr lang="en-US" altLang="ko-KR"/>
              <a:t>(</a:t>
            </a:r>
            <a:r>
              <a:rPr lang="en" altLang="ko-KR"/>
              <a:t>close) </a:t>
            </a:r>
            <a:r>
              <a:rPr lang="ko-KR" altLang="en-US"/>
              <a:t>해제</a:t>
            </a:r>
            <a:endParaRPr lang="ko-KR" altLang="en-US"/>
          </a:p>
          <a:p>
            <a:pPr lvl="1">
              <a:defRPr/>
            </a:pPr>
            <a:br>
              <a:rPr lang="en" altLang="ko-KR" sz="1000"/>
            </a:br>
            <a:endParaRPr lang="ko-KR" altLang="en-US" sz="1000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417531" y="2788024"/>
            <a:ext cx="7115153" cy="1515136"/>
            <a:chOff x="0" y="0"/>
            <a:chExt cx="1873950" cy="3990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73950" cy="399048"/>
            </a:xfrm>
            <a:custGeom>
              <a:avLst/>
              <a:gdLst/>
              <a:ahLst/>
              <a:cxnLst/>
              <a:rect r="r" b="b" t="t" l="l"/>
              <a:pathLst>
                <a:path h="399048" w="1873950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17531" y="4820863"/>
            <a:ext cx="7115153" cy="1515136"/>
            <a:chOff x="0" y="0"/>
            <a:chExt cx="1873950" cy="3990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73950" cy="399048"/>
            </a:xfrm>
            <a:custGeom>
              <a:avLst/>
              <a:gdLst/>
              <a:ahLst/>
              <a:cxnLst/>
              <a:rect r="r" b="b" t="t" l="l"/>
              <a:pathLst>
                <a:path h="399048" w="1873950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417531" y="6857746"/>
            <a:ext cx="7115153" cy="1515136"/>
            <a:chOff x="0" y="0"/>
            <a:chExt cx="1873950" cy="3990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73950" cy="399048"/>
            </a:xfrm>
            <a:custGeom>
              <a:avLst/>
              <a:gdLst/>
              <a:ahLst/>
              <a:cxnLst/>
              <a:rect r="r" b="b" t="t" l="l"/>
              <a:pathLst>
                <a:path h="399048" w="1873950">
                  <a:moveTo>
                    <a:pt x="25026" y="0"/>
                  </a:moveTo>
                  <a:lnTo>
                    <a:pt x="1848924" y="0"/>
                  </a:lnTo>
                  <a:cubicBezTo>
                    <a:pt x="1855561" y="0"/>
                    <a:pt x="1861926" y="2637"/>
                    <a:pt x="1866620" y="7330"/>
                  </a:cubicBezTo>
                  <a:cubicBezTo>
                    <a:pt x="1871313" y="12023"/>
                    <a:pt x="1873950" y="18389"/>
                    <a:pt x="1873950" y="25026"/>
                  </a:cubicBezTo>
                  <a:lnTo>
                    <a:pt x="1873950" y="374022"/>
                  </a:lnTo>
                  <a:cubicBezTo>
                    <a:pt x="1873950" y="380660"/>
                    <a:pt x="1871313" y="387025"/>
                    <a:pt x="1866620" y="391718"/>
                  </a:cubicBezTo>
                  <a:cubicBezTo>
                    <a:pt x="1861926" y="396412"/>
                    <a:pt x="1855561" y="399048"/>
                    <a:pt x="1848924" y="399048"/>
                  </a:cubicBezTo>
                  <a:lnTo>
                    <a:pt x="25026" y="399048"/>
                  </a:lnTo>
                  <a:cubicBezTo>
                    <a:pt x="18389" y="399048"/>
                    <a:pt x="12023" y="396412"/>
                    <a:pt x="7330" y="391718"/>
                  </a:cubicBezTo>
                  <a:cubicBezTo>
                    <a:pt x="2637" y="387025"/>
                    <a:pt x="0" y="380660"/>
                    <a:pt x="0" y="374022"/>
                  </a:cubicBezTo>
                  <a:lnTo>
                    <a:pt x="0" y="25026"/>
                  </a:lnTo>
                  <a:cubicBezTo>
                    <a:pt x="0" y="18389"/>
                    <a:pt x="2637" y="12023"/>
                    <a:pt x="7330" y="7330"/>
                  </a:cubicBezTo>
                  <a:cubicBezTo>
                    <a:pt x="12023" y="2637"/>
                    <a:pt x="18389" y="0"/>
                    <a:pt x="25026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73950" cy="446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630844" y="5465195"/>
            <a:ext cx="3202401" cy="3120885"/>
          </a:xfrm>
          <a:custGeom>
            <a:avLst/>
            <a:gdLst/>
            <a:ahLst/>
            <a:cxnLst/>
            <a:rect r="r" b="b" t="t" l="l"/>
            <a:pathLst>
              <a:path h="3120885" w="3202401">
                <a:moveTo>
                  <a:pt x="0" y="0"/>
                </a:moveTo>
                <a:lnTo>
                  <a:pt x="3202401" y="0"/>
                </a:lnTo>
                <a:lnTo>
                  <a:pt x="3202401" y="3120885"/>
                </a:lnTo>
                <a:lnTo>
                  <a:pt x="0" y="31208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524000" y="3493745"/>
            <a:ext cx="5638800" cy="162944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깃허브 링크 </a:t>
            </a:r>
            <a:endParaRPr lang="ko-KR" altLang="en-US" sz="7669">
              <a:solidFill>
                <a:schemeClr val="dk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  <a:p>
            <a:pPr lvl="0" algn="l">
              <a:lnSpc>
                <a:spcPts val="4283"/>
              </a:lnSpc>
              <a:spcBef>
                <a:spcPct val="0"/>
              </a:spcBef>
              <a:defRPr/>
            </a:pPr>
            <a:endParaRPr lang="ko-KR" altLang="en-US" sz="7669">
              <a:solidFill>
                <a:schemeClr val="dk1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  <a:p>
            <a:pPr lvl="0" algn="l">
              <a:lnSpc>
                <a:spcPts val="4283"/>
              </a:lnSpc>
              <a:spcBef>
                <a:spcPct val="0"/>
              </a:spcBef>
              <a:defRPr/>
            </a:pPr>
            <a:r>
              <a:rPr lang="ko-KR" altLang="en-US" sz="7669">
                <a:solidFill>
                  <a:schemeClr val="dk1"/>
                </a:solidFill>
                <a:latin typeface="Nanum Square Round"/>
                <a:ea typeface="Nanum Square Round"/>
                <a:cs typeface="Nanum Square Round"/>
                <a:sym typeface="Nanum Square Round"/>
              </a:rPr>
              <a:t>및 기여도</a:t>
            </a:r>
            <a:endParaRPr lang="en-US" sz="7669">
              <a:solidFill>
                <a:schemeClr val="dk1"/>
              </a:solidFill>
              <a:latin typeface="TDTD강굴림"/>
              <a:ea typeface="TDTD강굴림"/>
              <a:cs typeface="TDTD강굴림"/>
              <a:sym typeface="TDTD강굴림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250066" y="3086868"/>
            <a:ext cx="5618129" cy="10660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3500"/>
              <a:t>https://github.com/Bigben2002/Russian-Roulette-Project.git</a:t>
            </a:r>
            <a:endParaRPr lang="en-US" sz="3500">
              <a:solidFill>
                <a:srgbClr val="000000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144000" y="5275598"/>
            <a:ext cx="5618129" cy="60566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4000"/>
              <a:t>2171073 </a:t>
            </a:r>
            <a:r>
              <a:rPr lang="ko-KR" altLang="ko-KR" sz="4000"/>
              <a:t>이경석</a:t>
            </a:r>
            <a:r>
              <a:rPr lang="en-US" altLang="ko-KR" sz="4000"/>
              <a:t> 50%</a:t>
            </a:r>
            <a:endParaRPr lang="en-US" sz="4000">
              <a:solidFill>
                <a:srgbClr val="000000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144000" y="7310690"/>
            <a:ext cx="5618129" cy="60458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>
              <a:defRPr/>
            </a:pPr>
            <a:r>
              <a:rPr lang="en-US" altLang="ko-KR" sz="4000"/>
              <a:t>2171062 </a:t>
            </a:r>
            <a:r>
              <a:rPr lang="ko-KR" altLang="ko-KR" sz="4000"/>
              <a:t>김준현</a:t>
            </a:r>
            <a:r>
              <a:rPr lang="en-US" altLang="ko-KR" sz="4000"/>
              <a:t> 50%</a:t>
            </a:r>
            <a:endParaRPr lang="en-US" sz="4000">
              <a:solidFill>
                <a:srgbClr val="000000"/>
              </a:solidFill>
              <a:latin typeface="Nanum Square Round"/>
              <a:ea typeface="Nanum Square Round"/>
              <a:cs typeface="Nanum Square Round"/>
              <a:sym typeface="Nanum Square Round"/>
            </a:endParaRPr>
          </a:p>
        </p:txBody>
      </p:sp>
      <p:grpSp>
        <p:nvGrpSpPr>
          <p:cNvPr name="Group 24" id="24"/>
          <p:cNvGrpSpPr/>
          <p:nvPr/>
        </p:nvGrpSpPr>
        <p:grpSpPr>
          <a:xfrm rot="0">
            <a:off x="7908845" y="2561552"/>
            <a:ext cx="1017371" cy="887178"/>
            <a:chOff x="0" y="0"/>
            <a:chExt cx="267949" cy="2336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908845" y="4594391"/>
            <a:ext cx="1017371" cy="887178"/>
            <a:chOff x="0" y="0"/>
            <a:chExt cx="267949" cy="2336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908845" y="6631274"/>
            <a:ext cx="1017371" cy="887178"/>
            <a:chOff x="0" y="0"/>
            <a:chExt cx="267949" cy="2336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7949" cy="233660"/>
            </a:xfrm>
            <a:custGeom>
              <a:avLst/>
              <a:gdLst/>
              <a:ahLst/>
              <a:cxnLst/>
              <a:rect r="r" b="b" t="t" l="l"/>
              <a:pathLst>
                <a:path h="233660" w="267949">
                  <a:moveTo>
                    <a:pt x="116830" y="0"/>
                  </a:moveTo>
                  <a:lnTo>
                    <a:pt x="151119" y="0"/>
                  </a:lnTo>
                  <a:cubicBezTo>
                    <a:pt x="215643" y="0"/>
                    <a:pt x="267949" y="52307"/>
                    <a:pt x="267949" y="116830"/>
                  </a:cubicBezTo>
                  <a:lnTo>
                    <a:pt x="267949" y="116830"/>
                  </a:lnTo>
                  <a:cubicBezTo>
                    <a:pt x="267949" y="147815"/>
                    <a:pt x="255641" y="177531"/>
                    <a:pt x="233731" y="199441"/>
                  </a:cubicBezTo>
                  <a:cubicBezTo>
                    <a:pt x="211821" y="221351"/>
                    <a:pt x="182105" y="233660"/>
                    <a:pt x="151119" y="233660"/>
                  </a:cubicBezTo>
                  <a:lnTo>
                    <a:pt x="116830" y="233660"/>
                  </a:lnTo>
                  <a:cubicBezTo>
                    <a:pt x="52307" y="233660"/>
                    <a:pt x="0" y="181353"/>
                    <a:pt x="0" y="116830"/>
                  </a:cubicBezTo>
                  <a:lnTo>
                    <a:pt x="0" y="116830"/>
                  </a:lnTo>
                  <a:cubicBezTo>
                    <a:pt x="0" y="52307"/>
                    <a:pt x="52307" y="0"/>
                    <a:pt x="116830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267949" cy="28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8150501" y="2683249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150501" y="4716088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150501" y="6752971"/>
            <a:ext cx="534059" cy="53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3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Nanum Square Round Bold"/>
                <a:ea typeface="Nanum Square Round Bold"/>
                <a:cs typeface="Nanum Square Round Bold"/>
                <a:sym typeface="Nanum Square Round Bold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1054" y="894170"/>
            <a:ext cx="16541142" cy="8603886"/>
            <a:chOff x="0" y="0"/>
            <a:chExt cx="4356515" cy="22660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000000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5804" y="788945"/>
            <a:ext cx="16541142" cy="8603886"/>
            <a:chOff x="0" y="0"/>
            <a:chExt cx="4356515" cy="22660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56515" cy="2266044"/>
            </a:xfrm>
            <a:custGeom>
              <a:avLst/>
              <a:gdLst/>
              <a:ahLst/>
              <a:cxnLst/>
              <a:rect r="r" b="b" t="t" l="l"/>
              <a:pathLst>
                <a:path h="2266044" w="4356515">
                  <a:moveTo>
                    <a:pt x="10765" y="0"/>
                  </a:moveTo>
                  <a:lnTo>
                    <a:pt x="4345750" y="0"/>
                  </a:lnTo>
                  <a:cubicBezTo>
                    <a:pt x="4348605" y="0"/>
                    <a:pt x="4351343" y="1134"/>
                    <a:pt x="4353362" y="3153"/>
                  </a:cubicBezTo>
                  <a:cubicBezTo>
                    <a:pt x="4355381" y="5172"/>
                    <a:pt x="4356515" y="7910"/>
                    <a:pt x="4356515" y="10765"/>
                  </a:cubicBezTo>
                  <a:lnTo>
                    <a:pt x="4356515" y="2255279"/>
                  </a:lnTo>
                  <a:cubicBezTo>
                    <a:pt x="4356515" y="2261224"/>
                    <a:pt x="4351695" y="2266044"/>
                    <a:pt x="4345750" y="2266044"/>
                  </a:cubicBezTo>
                  <a:lnTo>
                    <a:pt x="10765" y="2266044"/>
                  </a:lnTo>
                  <a:cubicBezTo>
                    <a:pt x="7910" y="2266044"/>
                    <a:pt x="5172" y="2264910"/>
                    <a:pt x="3153" y="2262891"/>
                  </a:cubicBezTo>
                  <a:cubicBezTo>
                    <a:pt x="1134" y="2260872"/>
                    <a:pt x="0" y="2258134"/>
                    <a:pt x="0" y="2255279"/>
                  </a:cubicBezTo>
                  <a:lnTo>
                    <a:pt x="0" y="10765"/>
                  </a:lnTo>
                  <a:cubicBezTo>
                    <a:pt x="0" y="7910"/>
                    <a:pt x="1134" y="5172"/>
                    <a:pt x="3153" y="3153"/>
                  </a:cubicBezTo>
                  <a:cubicBezTo>
                    <a:pt x="5172" y="1134"/>
                    <a:pt x="7910" y="0"/>
                    <a:pt x="1076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356515" cy="2313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825804" y="1657442"/>
            <a:ext cx="1654114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89943" y="1176191"/>
            <a:ext cx="556995" cy="139249"/>
          </a:xfrm>
          <a:custGeom>
            <a:avLst/>
            <a:gdLst/>
            <a:ahLst/>
            <a:cxnLst/>
            <a:rect r="r" b="b" t="t" l="l"/>
            <a:pathLst>
              <a:path h="139249" w="556995">
                <a:moveTo>
                  <a:pt x="0" y="0"/>
                </a:moveTo>
                <a:lnTo>
                  <a:pt x="556995" y="0"/>
                </a:lnTo>
                <a:lnTo>
                  <a:pt x="556995" y="139249"/>
                </a:lnTo>
                <a:lnTo>
                  <a:pt x="0" y="139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33855" y="4401208"/>
            <a:ext cx="4922380" cy="4260096"/>
          </a:xfrm>
          <a:custGeom>
            <a:avLst/>
            <a:gdLst/>
            <a:ahLst/>
            <a:cxnLst/>
            <a:rect r="r" b="b" t="t" l="l"/>
            <a:pathLst>
              <a:path h="4260096" w="4922380">
                <a:moveTo>
                  <a:pt x="0" y="0"/>
                </a:moveTo>
                <a:lnTo>
                  <a:pt x="4922380" y="0"/>
                </a:lnTo>
                <a:lnTo>
                  <a:pt x="4922380" y="4260096"/>
                </a:lnTo>
                <a:lnTo>
                  <a:pt x="0" y="42600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03595" y="3540078"/>
            <a:ext cx="9867543" cy="15508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97"/>
              </a:lnSpc>
              <a:spcBef>
                <a:spcPct val="0"/>
              </a:spcBef>
            </a:pPr>
            <a:r>
              <a:rPr lang="en-US" sz="9069" strike="noStrike" u="none">
                <a:solidFill>
                  <a:srgbClr val="000000"/>
                </a:solidFill>
                <a:latin typeface="TDTD강굴림"/>
                <a:ea typeface="TDTD강굴림"/>
                <a:cs typeface="TDTD강굴림"/>
                <a:sym typeface="TDTD강굴림"/>
              </a:rP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533</ep:Words>
  <ep:PresentationFormat>On-screen Show (4:3)</ep:PresentationFormat>
  <ep:Paragraphs>122</ep:Paragraphs>
  <ep:Slides>14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user</cp:lastModifiedBy>
  <dcterms:modified xsi:type="dcterms:W3CDTF">2025-12-05T07:35:09.783</dcterms:modified>
  <cp:revision>9</cp:revision>
  <dc:title>검정색 흰색 심플한 일러스트 마케팅 과제 발표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